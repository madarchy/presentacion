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0.svg" ContentType="image/svg+xml"/>
  <Override PartName="/ppt/media/image-1-2.svg" ContentType="image/svg+xml"/>
  <Override PartName="/ppt/media/image-1-4.svg" ContentType="image/svg+xml"/>
  <Override PartName="/ppt/media/image-1-6.svg" ContentType="image/svg+xml"/>
  <Override PartName="/ppt/media/image-1-8.svg" ContentType="image/svg+xml"/>
  <Override PartName="/ppt/media/image-10-2.svg" ContentType="image/svg+xml"/>
  <Override PartName="/ppt/media/image-10-4.svg" ContentType="image/svg+xml"/>
  <Override PartName="/ppt/media/image-10-6.svg" ContentType="image/svg+xml"/>
  <Override PartName="/ppt/media/image-10-8.svg" ContentType="image/svg+xml"/>
  <Override PartName="/ppt/media/image-11-10.svg" ContentType="image/svg+xml"/>
  <Override PartName="/ppt/media/image-11-2.svg" ContentType="image/svg+xml"/>
  <Override PartName="/ppt/media/image-11-4.svg" ContentType="image/svg+xml"/>
  <Override PartName="/ppt/media/image-11-6.svg" ContentType="image/svg+xml"/>
  <Override PartName="/ppt/media/image-11-8.svg" ContentType="image/svg+xml"/>
  <Override PartName="/ppt/media/image-12-10.svg" ContentType="image/svg+xml"/>
  <Override PartName="/ppt/media/image-12-2.svg" ContentType="image/svg+xml"/>
  <Override PartName="/ppt/media/image-12-4.svg" ContentType="image/svg+xml"/>
  <Override PartName="/ppt/media/image-12-6.svg" ContentType="image/svg+xml"/>
  <Override PartName="/ppt/media/image-12-8.svg" ContentType="image/svg+xml"/>
  <Override PartName="/ppt/media/image-14-2.svg" ContentType="image/svg+xml"/>
  <Override PartName="/ppt/media/image-14-4.svg" ContentType="image/svg+xml"/>
  <Override PartName="/ppt/media/image-14-6.svg" ContentType="image/svg+xml"/>
  <Override PartName="/ppt/media/image-15-2.svg" ContentType="image/svg+xml"/>
  <Override PartName="/ppt/media/image-15-4.svg" ContentType="image/svg+xml"/>
  <Override PartName="/ppt/media/image-15-6.svg" ContentType="image/svg+xml"/>
  <Override PartName="/ppt/media/image-15-8.svg" ContentType="image/svg+xml"/>
  <Override PartName="/ppt/media/image-16-10.svg" ContentType="image/svg+xml"/>
  <Override PartName="/ppt/media/image-16-12.svg" ContentType="image/svg+xml"/>
  <Override PartName="/ppt/media/image-16-2.svg" ContentType="image/svg+xml"/>
  <Override PartName="/ppt/media/image-16-4.svg" ContentType="image/svg+xml"/>
  <Override PartName="/ppt/media/image-16-6.svg" ContentType="image/svg+xml"/>
  <Override PartName="/ppt/media/image-16-8.svg" ContentType="image/svg+xml"/>
  <Override PartName="/ppt/media/image-17-10.svg" ContentType="image/svg+xml"/>
  <Override PartName="/ppt/media/image-17-2.svg" ContentType="image/svg+xml"/>
  <Override PartName="/ppt/media/image-17-4.svg" ContentType="image/svg+xml"/>
  <Override PartName="/ppt/media/image-17-6.svg" ContentType="image/svg+xml"/>
  <Override PartName="/ppt/media/image-17-8.svg" ContentType="image/svg+xml"/>
  <Override PartName="/ppt/media/image-18-10.svg" ContentType="image/svg+xml"/>
  <Override PartName="/ppt/media/image-18-2.svg" ContentType="image/svg+xml"/>
  <Override PartName="/ppt/media/image-18-4.svg" ContentType="image/svg+xml"/>
  <Override PartName="/ppt/media/image-18-6.svg" ContentType="image/svg+xml"/>
  <Override PartName="/ppt/media/image-18-8.svg" ContentType="image/svg+xml"/>
  <Override PartName="/ppt/media/image-19-10.svg" ContentType="image/svg+xml"/>
  <Override PartName="/ppt/media/image-19-12.svg" ContentType="image/svg+xml"/>
  <Override PartName="/ppt/media/image-19-2.svg" ContentType="image/svg+xml"/>
  <Override PartName="/ppt/media/image-19-4.svg" ContentType="image/svg+xml"/>
  <Override PartName="/ppt/media/image-19-6.svg" ContentType="image/svg+xml"/>
  <Override PartName="/ppt/media/image-19-8.svg" ContentType="image/svg+xml"/>
  <Override PartName="/ppt/media/image-2-10.svg" ContentType="image/svg+xml"/>
  <Override PartName="/ppt/media/image-2-12.svg" ContentType="image/svg+xml"/>
  <Override PartName="/ppt/media/image-2-14.svg" ContentType="image/svg+xml"/>
  <Override PartName="/ppt/media/image-2-16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3-2.svg" ContentType="image/svg+xml"/>
  <Override PartName="/ppt/media/image-3-4.svg" ContentType="image/svg+xml"/>
  <Override PartName="/ppt/media/image-3-6.svg" ContentType="image/svg+xml"/>
  <Override PartName="/ppt/media/image-4-10.svg" ContentType="image/svg+xml"/>
  <Override PartName="/ppt/media/image-4-12.svg" ContentType="image/svg+xml"/>
  <Override PartName="/ppt/media/image-4-14.svg" ContentType="image/svg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media/image-5-10.svg" ContentType="image/svg+xml"/>
  <Override PartName="/ppt/media/image-5-12.svg" ContentType="image/svg+xml"/>
  <Override PartName="/ppt/media/image-5-14.svg" ContentType="image/svg+xml"/>
  <Override PartName="/ppt/media/image-5-16.svg" ContentType="image/svg+xml"/>
  <Override PartName="/ppt/media/image-5-18.svg" ContentType="image/svg+xml"/>
  <Override PartName="/ppt/media/image-5-2.svg" ContentType="image/svg+xml"/>
  <Override PartName="/ppt/media/image-5-20.svg" ContentType="image/svg+xml"/>
  <Override PartName="/ppt/media/image-5-22.svg" ContentType="image/svg+xml"/>
  <Override PartName="/ppt/media/image-5-4.svg" ContentType="image/svg+xml"/>
  <Override PartName="/ppt/media/image-5-6.svg" ContentType="image/svg+xml"/>
  <Override PartName="/ppt/media/image-5-8.svg" ContentType="image/svg+xml"/>
  <Override PartName="/ppt/media/image-6-10.svg" ContentType="image/svg+xml"/>
  <Override PartName="/ppt/media/image-6-12.svg" ContentType="image/svg+xml"/>
  <Override PartName="/ppt/media/image-6-14.svg" ContentType="image/svg+xml"/>
  <Override PartName="/ppt/media/image-6-16.svg" ContentType="image/svg+xml"/>
  <Override PartName="/ppt/media/image-6-18.svg" ContentType="image/svg+xml"/>
  <Override PartName="/ppt/media/image-6-2.svg" ContentType="image/svg+xml"/>
  <Override PartName="/ppt/media/image-6-20.svg" ContentType="image/svg+xml"/>
  <Override PartName="/ppt/media/image-6-22.svg" ContentType="image/svg+xml"/>
  <Override PartName="/ppt/media/image-6-24.svg" ContentType="image/svg+xml"/>
  <Override PartName="/ppt/media/image-6-26.svg" ContentType="image/svg+xml"/>
  <Override PartName="/ppt/media/image-6-28.svg" ContentType="image/svg+xml"/>
  <Override PartName="/ppt/media/image-6-4.svg" ContentType="image/svg+xml"/>
  <Override PartName="/ppt/media/image-6-6.svg" ContentType="image/svg+xml"/>
  <Override PartName="/ppt/media/image-6-8.svg" ContentType="image/svg+xml"/>
  <Override PartName="/ppt/media/image-7-2.svg" ContentType="image/svg+xml"/>
  <Override PartName="/ppt/media/image-7-4.svg" ContentType="image/svg+xml"/>
  <Override PartName="/ppt/media/image-7-6.svg" ContentType="image/svg+xml"/>
  <Override PartName="/ppt/media/image-7-8.svg" ContentType="image/svg+xml"/>
  <Override PartName="/ppt/media/image-8-10.svg" ContentType="image/svg+xml"/>
  <Override PartName="/ppt/media/image-8-12.svg" ContentType="image/svg+xml"/>
  <Override PartName="/ppt/media/image-8-2.svg" ContentType="image/svg+xml"/>
  <Override PartName="/ppt/media/image-8-4.svg" ContentType="image/svg+xml"/>
  <Override PartName="/ppt/media/image-8-6.svg" ContentType="image/svg+xml"/>
  <Override PartName="/ppt/media/image-8-8.svg" ContentType="image/svg+xml"/>
  <Override PartName="/ppt/media/image-9-2.svg" ContentType="image/svg+xml"/>
  <Override PartName="/ppt/media/image-9-4.svg" ContentType="image/svg+xml"/>
  <Override PartName="/ppt/media/image-9-6.svg" ContentType="image/svg+xml"/>
  <Override PartName="/ppt/media/image-9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5" r:id="rId26"/>
    <p:sldId id="258" r:id="rId4"/>
    <p:sldId id="259" r:id="rId5"/>
    <p:sldId id="276" r:id="rId27"/>
    <p:sldId id="260" r:id="rId6"/>
    <p:sldId id="277" r:id="rId28"/>
    <p:sldId id="261" r:id="rId7"/>
    <p:sldId id="262" r:id="rId8"/>
    <p:sldId id="278" r:id="rId29"/>
    <p:sldId id="263" r:id="rId9"/>
    <p:sldId id="279" r:id="rId30"/>
    <p:sldId id="264" r:id="rId10"/>
    <p:sldId id="280" r:id="rId31"/>
    <p:sldId id="265" r:id="rId11"/>
    <p:sldId id="281" r:id="rId32"/>
    <p:sldId id="266" r:id="rId12"/>
    <p:sldId id="282" r:id="rId33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contrast: a chatbot can explain; this product is designed to teach. The one line to remember is measurable learning, not just pleasant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market gap is not more generated text. It is a sustained learning process: understanding level, building a path, remembering evidence, and proving mastery.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timing: capable models, multi-agent orchestration, and structured memory. Their combination changes the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agent in simple language: not a robot, but a specialized AI role with a goal, rules, tools, and controlled access to memory. The product is the complete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ratios-to-percentages example. The tutor builds on what the learner already knows, checks whether the connection worked, and addresses the root cause of errors.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positioning slide. Teaching is a system, not a prompt. One model should not teach, grade, and approve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read all twelve. Explain separation of duties: the agent that searches does not verify; the agent that teaches does not declare mastery.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compounding advantage is personal: which example worked, which analogy confused, and which concept is the best bridge. The history becomes a teaching asset.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Translate to business: progress survives model changes; the system can explain why a plan changed and which evidence supports progress.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separation supports education and corporate environments. In sensitive cases, safety can block or escalate to a human reviewer.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technical investors: emphasize decoupling and lower vendor lock-in. Avoid deep infrastructure detail unless requested.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promise every subject on day one. A deep, measurable domain is more valuable than a shallow demo across thousands of topics.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for a demo, show three moments: diagnosis, connection to prior knowledge, and a detected gap that triggers remediation.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MVP is the engine. Phases two and three add channels, formats, and users without rebuilding the learning logic.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invent TAM figures. The proprietary asset is the learning graph: what works, what fails, and how each learner progresses.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Naming risks signals product maturity. Highlight sources, assessment quality, cost, privacy, vendor dependence, and multi-agent complexity.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this slide once the concrete ask is defined: amount, equity, grant, or corporate pilot. Today the objective is measurable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with: This is not a chatbot. It is infrastructure for learning. Pause, then move to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as a backup slide. It does not need to appear in the main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815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523"/>
          </a:solidFill>
          <a:ln w="12700">
            <a:solidFill>
              <a:srgbClr val="0815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6510528"/>
            <a:ext cx="11045952" cy="0"/>
          </a:xfrm>
          <a:prstGeom prst="line">
            <a:avLst/>
          </a:prstGeom>
          <a:noFill/>
          <a:ln w="8890">
            <a:solidFill>
              <a:srgbClr val="28455C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6565392"/>
            <a:ext cx="4389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spc="140" kern="0" dirty="0">
                <a:solidFill>
                  <a:srgbClr val="6D85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EXPERT MULTI-AGENT TUTOR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image" Target="../media/image-4-13.png"/><Relationship Id="rId14" Type="http://schemas.openxmlformats.org/officeDocument/2006/relationships/image" Target="../media/image-4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image" Target="../media/image-5-11.png"/><Relationship Id="rId12" Type="http://schemas.openxmlformats.org/officeDocument/2006/relationships/image" Target="../media/image-5-12.svg"/><Relationship Id="rId13" Type="http://schemas.openxmlformats.org/officeDocument/2006/relationships/image" Target="../media/image-5-13.png"/><Relationship Id="rId14" Type="http://schemas.openxmlformats.org/officeDocument/2006/relationships/image" Target="../media/image-5-14.svg"/><Relationship Id="rId15" Type="http://schemas.openxmlformats.org/officeDocument/2006/relationships/image" Target="../media/image-5-15.png"/><Relationship Id="rId16" Type="http://schemas.openxmlformats.org/officeDocument/2006/relationships/image" Target="../media/image-5-16.svg"/><Relationship Id="rId17" Type="http://schemas.openxmlformats.org/officeDocument/2006/relationships/image" Target="../media/image-5-17.png"/><Relationship Id="rId18" Type="http://schemas.openxmlformats.org/officeDocument/2006/relationships/image" Target="../media/image-5-18.svg"/><Relationship Id="rId19" Type="http://schemas.openxmlformats.org/officeDocument/2006/relationships/image" Target="../media/image-5-19.png"/><Relationship Id="rId20" Type="http://schemas.openxmlformats.org/officeDocument/2006/relationships/image" Target="../media/image-5-20.svg"/><Relationship Id="rId21" Type="http://schemas.openxmlformats.org/officeDocument/2006/relationships/image" Target="../media/image-5-21.png"/><Relationship Id="rId22" Type="http://schemas.openxmlformats.org/officeDocument/2006/relationships/image" Target="../media/image-5-22.sv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image" Target="../media/image-6-19.png"/><Relationship Id="rId20" Type="http://schemas.openxmlformats.org/officeDocument/2006/relationships/image" Target="../media/image-6-20.svg"/><Relationship Id="rId21" Type="http://schemas.openxmlformats.org/officeDocument/2006/relationships/image" Target="../media/image-6-21.png"/><Relationship Id="rId22" Type="http://schemas.openxmlformats.org/officeDocument/2006/relationships/image" Target="../media/image-6-22.svg"/><Relationship Id="rId23" Type="http://schemas.openxmlformats.org/officeDocument/2006/relationships/image" Target="../media/image-6-23.png"/><Relationship Id="rId24" Type="http://schemas.openxmlformats.org/officeDocument/2006/relationships/image" Target="../media/image-6-24.svg"/><Relationship Id="rId25" Type="http://schemas.openxmlformats.org/officeDocument/2006/relationships/image" Target="../media/image-6-25.png"/><Relationship Id="rId26" Type="http://schemas.openxmlformats.org/officeDocument/2006/relationships/image" Target="../media/image-6-26.svg"/><Relationship Id="rId27" Type="http://schemas.openxmlformats.org/officeDocument/2006/relationships/image" Target="../media/image-6-27.png"/><Relationship Id="rId28" Type="http://schemas.openxmlformats.org/officeDocument/2006/relationships/image" Target="../media/image-6-28.svg"/><Relationship Id="rId29" Type="http://schemas.openxmlformats.org/officeDocument/2006/relationships/slideLayout" Target="../slideLayouts/slideLayout2.xml"/><Relationship Id="rId30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1078992"/>
            <a:ext cx="3703320" cy="3703320"/>
          </a:xfrm>
          <a:prstGeom prst="ellipse">
            <a:avLst/>
          </a:prstGeom>
          <a:solidFill>
            <a:srgbClr val="36D1C4">
              <a:alpha val="6000"/>
            </a:srgbClr>
          </a:solidFill>
          <a:ln w="12700">
            <a:solidFill>
              <a:srgbClr val="36D1C4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973568" y="1600200"/>
            <a:ext cx="2651760" cy="2651760"/>
          </a:xfrm>
          <a:prstGeom prst="ellipse">
            <a:avLst/>
          </a:prstGeom>
          <a:solidFill>
            <a:srgbClr val="132A3E">
              <a:alpha val="95000"/>
            </a:srgbClr>
          </a:solidFill>
          <a:ln w="15240">
            <a:solidFill>
              <a:srgbClr val="36D1C4">
                <a:alpha val="6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96528" y="2395728"/>
            <a:ext cx="1024128" cy="10241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52360" y="86868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98664" y="1069848"/>
            <a:ext cx="256032" cy="2560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09560" y="103327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8FB"/>
                </a:solidFill>
              </a:rPr>
              <a:t>Diagnose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10195560" y="1170432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1864" y="1371600"/>
            <a:ext cx="256032" cy="25603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652760" y="1335024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8FB"/>
                </a:solidFill>
              </a:rPr>
              <a:t>Teach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10424160" y="416052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70464" y="436168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0881360" y="432511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8FB"/>
                </a:solidFill>
              </a:rPr>
              <a:t>Assess</a:t>
            </a:r>
            <a:endParaRPr lang="en-US" sz="1150" dirty="0"/>
          </a:p>
        </p:txBody>
      </p:sp>
      <p:sp>
        <p:nvSpPr>
          <p:cNvPr id="14" name="Shape 8"/>
          <p:cNvSpPr/>
          <p:nvPr/>
        </p:nvSpPr>
        <p:spPr>
          <a:xfrm>
            <a:off x="7479792" y="470916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626096" y="491032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936992" y="4873752"/>
            <a:ext cx="8595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5F8FB"/>
                </a:solidFill>
              </a:rPr>
              <a:t>Adapt</a:t>
            </a:r>
            <a:endParaRPr lang="en-US" sz="1150" dirty="0"/>
          </a:p>
        </p:txBody>
      </p:sp>
      <p:sp>
        <p:nvSpPr>
          <p:cNvPr id="17" name="Shape 10"/>
          <p:cNvSpPr/>
          <p:nvPr/>
        </p:nvSpPr>
        <p:spPr>
          <a:xfrm>
            <a:off x="8156448" y="1499616"/>
            <a:ext cx="310896" cy="438912"/>
          </a:xfrm>
          <a:prstGeom prst="line">
            <a:avLst/>
          </a:prstGeom>
          <a:noFill/>
          <a:ln w="1524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8" name="Shape 11"/>
          <p:cNvSpPr/>
          <p:nvPr/>
        </p:nvSpPr>
        <p:spPr>
          <a:xfrm>
            <a:off x="10222992" y="1783080"/>
            <a:ext cx="-237744" cy="548640"/>
          </a:xfrm>
          <a:prstGeom prst="line">
            <a:avLst/>
          </a:prstGeom>
          <a:noFill/>
          <a:ln w="1524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9" name="Shape 12"/>
          <p:cNvSpPr/>
          <p:nvPr/>
        </p:nvSpPr>
        <p:spPr>
          <a:xfrm>
            <a:off x="10378440" y="4160520"/>
            <a:ext cx="-365760" cy="-411480"/>
          </a:xfrm>
          <a:prstGeom prst="line">
            <a:avLst/>
          </a:prstGeom>
          <a:noFill/>
          <a:ln w="1524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20" name="Shape 13"/>
          <p:cNvSpPr/>
          <p:nvPr/>
        </p:nvSpPr>
        <p:spPr>
          <a:xfrm>
            <a:off x="8339328" y="4709160"/>
            <a:ext cx="347472" cy="-521208"/>
          </a:xfrm>
          <a:prstGeom prst="line">
            <a:avLst/>
          </a:prstGeom>
          <a:noFill/>
          <a:ln w="1524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21" name="Shape 14"/>
          <p:cNvSpPr/>
          <p:nvPr/>
        </p:nvSpPr>
        <p:spPr>
          <a:xfrm>
            <a:off x="658368" y="621792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731520" y="67208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PRESENTATION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658368" y="1188720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Expert Multi-Agent Tutor</a:t>
            </a:r>
            <a:endParaRPr lang="en-US" sz="3400" dirty="0"/>
          </a:p>
        </p:txBody>
      </p:sp>
      <p:sp>
        <p:nvSpPr>
          <p:cNvPr id="24" name="Text 17"/>
          <p:cNvSpPr/>
          <p:nvPr/>
        </p:nvSpPr>
        <p:spPr>
          <a:xfrm>
            <a:off x="676656" y="2606040"/>
            <a:ext cx="5715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intelligent tutoring system that diagnoses, teaches, evaluates, and adapts.</a:t>
            </a:r>
            <a:endParaRPr lang="en-US" sz="1850" dirty="0"/>
          </a:p>
        </p:txBody>
      </p:sp>
      <p:sp>
        <p:nvSpPr>
          <p:cNvPr id="25" name="Text 18"/>
          <p:cNvSpPr/>
          <p:nvPr/>
        </p:nvSpPr>
        <p:spPr>
          <a:xfrm>
            <a:off x="676656" y="3822192"/>
            <a:ext cx="5669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5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does not just answer questions. It produces verifiable learning.</a:t>
            </a:r>
            <a:endParaRPr lang="en-US" sz="2050" dirty="0"/>
          </a:p>
        </p:txBody>
      </p:sp>
      <p:sp>
        <p:nvSpPr>
          <p:cNvPr id="26" name="Text 19"/>
          <p:cNvSpPr/>
          <p:nvPr/>
        </p:nvSpPr>
        <p:spPr>
          <a:xfrm>
            <a:off x="676656" y="498348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" kern="0" dirty="0">
                <a:solidFill>
                  <a:srgbClr val="7890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  •  Plan  •  Teaching  •  Evidence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Today’s AI answers very well. But answering is not the same as teaching.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3977640" cy="3520440"/>
          </a:xfrm>
          <a:prstGeom prst="roundRect">
            <a:avLst>
              <a:gd name="adj" fmla="val 2078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1832" y="2212848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084832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“Explain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percentages”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932688" y="3227832"/>
            <a:ext cx="3383280" cy="0"/>
          </a:xfrm>
          <a:prstGeom prst="line">
            <a:avLst/>
          </a:prstGeom>
          <a:noFill/>
          <a:ln w="12700">
            <a:solidFill>
              <a:srgbClr val="28455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2688" y="3529584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98448" y="35021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9B8C6"/>
                </a:solidFill>
              </a:rPr>
              <a:t>Does not know the real level</a:t>
            </a:r>
            <a:endParaRPr lang="en-US" sz="123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2688" y="4059936"/>
            <a:ext cx="246888" cy="2468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98448" y="403250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9B8C6"/>
                </a:solidFill>
              </a:rPr>
              <a:t>Does not remember what worked</a:t>
            </a:r>
            <a:endParaRPr lang="en-US" sz="123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32688" y="4590288"/>
            <a:ext cx="246888" cy="2468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98448" y="456285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A9B8C6"/>
                </a:solidFill>
              </a:rPr>
              <a:t>Confuses an answer with mastery</a:t>
            </a:r>
            <a:endParaRPr lang="en-US" sz="1230" dirty="0"/>
          </a:p>
        </p:txBody>
      </p:sp>
      <p:sp>
        <p:nvSpPr>
          <p:cNvPr id="16" name="Text 10"/>
          <p:cNvSpPr/>
          <p:nvPr/>
        </p:nvSpPr>
        <p:spPr>
          <a:xfrm>
            <a:off x="5166360" y="190195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teach, AI needs…</a:t>
            </a:r>
            <a:endParaRPr lang="en-US" sz="2000" dirty="0"/>
          </a:p>
        </p:txBody>
      </p:sp>
      <p:sp>
        <p:nvSpPr>
          <p:cNvPr id="17" name="Shape 11"/>
          <p:cNvSpPr/>
          <p:nvPr/>
        </p:nvSpPr>
        <p:spPr>
          <a:xfrm>
            <a:off x="5166360" y="2514600"/>
            <a:ext cx="5650992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5422392" y="2761488"/>
            <a:ext cx="548640" cy="548640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559552" y="289864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099048" y="274320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Diagnosis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6099048" y="3136392"/>
            <a:ext cx="4480560" cy="-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where the learner starts.</a:t>
            </a:r>
            <a:endParaRPr lang="en-US" sz="1160" dirty="0"/>
          </a:p>
        </p:txBody>
      </p:sp>
      <p:sp>
        <p:nvSpPr>
          <p:cNvPr id="22" name="Shape 15"/>
          <p:cNvSpPr/>
          <p:nvPr/>
        </p:nvSpPr>
        <p:spPr>
          <a:xfrm>
            <a:off x="5166360" y="3300984"/>
            <a:ext cx="5650992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5422392" y="3547872"/>
            <a:ext cx="548640" cy="548640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559552" y="3685032"/>
            <a:ext cx="274320" cy="27432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99048" y="3529584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Path</a:t>
            </a:r>
            <a:endParaRPr lang="en-US" sz="1700" dirty="0"/>
          </a:p>
        </p:txBody>
      </p:sp>
      <p:sp>
        <p:nvSpPr>
          <p:cNvPr id="26" name="Text 18"/>
          <p:cNvSpPr/>
          <p:nvPr/>
        </p:nvSpPr>
        <p:spPr>
          <a:xfrm>
            <a:off x="6099048" y="3922776"/>
            <a:ext cx="4480560" cy="-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what to learn and in what order.</a:t>
            </a:r>
            <a:endParaRPr lang="en-US" sz="1160" dirty="0"/>
          </a:p>
        </p:txBody>
      </p:sp>
      <p:sp>
        <p:nvSpPr>
          <p:cNvPr id="27" name="Shape 19"/>
          <p:cNvSpPr/>
          <p:nvPr/>
        </p:nvSpPr>
        <p:spPr>
          <a:xfrm>
            <a:off x="5166360" y="4087368"/>
            <a:ext cx="5650992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5422392" y="4334256"/>
            <a:ext cx="548640" cy="548640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559552" y="4471416"/>
            <a:ext cx="274320" cy="27432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6099048" y="4315968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1700" dirty="0"/>
          </a:p>
        </p:txBody>
      </p:sp>
      <p:sp>
        <p:nvSpPr>
          <p:cNvPr id="31" name="Text 22"/>
          <p:cNvSpPr/>
          <p:nvPr/>
        </p:nvSpPr>
        <p:spPr>
          <a:xfrm>
            <a:off x="6099048" y="4709160"/>
            <a:ext cx="4480560" cy="-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Remember evidence, not only messages.</a:t>
            </a:r>
            <a:endParaRPr lang="en-US" sz="1160" dirty="0"/>
          </a:p>
        </p:txBody>
      </p:sp>
      <p:sp>
        <p:nvSpPr>
          <p:cNvPr id="32" name="Shape 23"/>
          <p:cNvSpPr/>
          <p:nvPr/>
        </p:nvSpPr>
        <p:spPr>
          <a:xfrm>
            <a:off x="5166360" y="4873752"/>
            <a:ext cx="5650992" cy="658368"/>
          </a:xfrm>
          <a:prstGeom prst="roundRect">
            <a:avLst>
              <a:gd name="adj" fmla="val 1111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33" name="Shape 24"/>
          <p:cNvSpPr/>
          <p:nvPr/>
        </p:nvSpPr>
        <p:spPr>
          <a:xfrm>
            <a:off x="5422392" y="5120640"/>
            <a:ext cx="548640" cy="548640"/>
          </a:xfrm>
          <a:prstGeom prst="ellipse">
            <a:avLst/>
          </a:prstGeom>
          <a:solidFill>
            <a:srgbClr val="85F3EA">
              <a:alpha val="17000"/>
            </a:srgbClr>
          </a:solidFill>
          <a:ln w="12700">
            <a:solidFill>
              <a:srgbClr val="85F3EA">
                <a:alpha val="50000"/>
              </a:srgbClr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559552" y="5257800"/>
            <a:ext cx="274320" cy="274320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6099048" y="5102352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Proof</a:t>
            </a:r>
            <a:endParaRPr lang="en-US" sz="1700" dirty="0"/>
          </a:p>
        </p:txBody>
      </p:sp>
      <p:sp>
        <p:nvSpPr>
          <p:cNvPr id="36" name="Text 26"/>
          <p:cNvSpPr/>
          <p:nvPr/>
        </p:nvSpPr>
        <p:spPr>
          <a:xfrm>
            <a:off x="6099048" y="5495544"/>
            <a:ext cx="4480560" cy="-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understanding and transfer.</a:t>
            </a:r>
            <a:endParaRPr lang="en-US" sz="1160" dirty="0"/>
          </a:p>
        </p:txBody>
      </p:sp>
      <p:sp>
        <p:nvSpPr>
          <p:cNvPr id="37" name="Text 27"/>
          <p:cNvSpPr/>
          <p:nvPr/>
        </p:nvSpPr>
        <p:spPr>
          <a:xfrm>
            <a:off x="5193792" y="57150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Answering ≠ teaching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TIMING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now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capabilities are finally mature enough to build a real AI tutor.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2176272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75104" y="2523744"/>
            <a:ext cx="786384" cy="786384"/>
          </a:xfrm>
          <a:prstGeom prst="ellipse">
            <a:avLst/>
          </a:prstGeom>
          <a:solidFill>
            <a:srgbClr val="36D1C4">
              <a:alpha val="18000"/>
            </a:srgbClr>
          </a:solidFill>
          <a:ln w="12700">
            <a:solidFill>
              <a:srgbClr val="36D1C4">
                <a:alpha val="5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03704" y="2734056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33272" y="349300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078992" y="3904488"/>
            <a:ext cx="25786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8C6"/>
                </a:solidFill>
              </a:rPr>
              <a:t>They can now explain, adapt, and assess with useful quality.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114800" y="3328416"/>
            <a:ext cx="256032" cy="0"/>
          </a:xfrm>
          <a:prstGeom prst="line">
            <a:avLst/>
          </a:prstGeom>
          <a:noFill/>
          <a:ln w="17780">
            <a:solidFill>
              <a:srgbClr val="52738A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480560" y="2176272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42432" y="2523744"/>
            <a:ext cx="786384" cy="786384"/>
          </a:xfrm>
          <a:prstGeom prst="ellipse">
            <a:avLst/>
          </a:prstGeom>
          <a:solidFill>
            <a:srgbClr val="36D1C4">
              <a:alpha val="18000"/>
            </a:srgbClr>
          </a:solidFill>
          <a:ln w="12700">
            <a:solidFill>
              <a:srgbClr val="36D1C4">
                <a:alpha val="55000"/>
              </a:srgbClr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1032" y="2734056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00600" y="349300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Agents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846320" y="3904488"/>
            <a:ext cx="25786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8C6"/>
                </a:solidFill>
              </a:rPr>
              <a:t>They coordinate long processes with roles and rules.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882128" y="3328416"/>
            <a:ext cx="256032" cy="0"/>
          </a:xfrm>
          <a:prstGeom prst="line">
            <a:avLst/>
          </a:prstGeom>
          <a:noFill/>
          <a:ln w="17780">
            <a:solidFill>
              <a:srgbClr val="52738A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47888" y="2176272"/>
            <a:ext cx="3310128" cy="2331720"/>
          </a:xfrm>
          <a:prstGeom prst="roundRect">
            <a:avLst>
              <a:gd name="adj" fmla="val 313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509760" y="2523744"/>
            <a:ext cx="786384" cy="786384"/>
          </a:xfrm>
          <a:prstGeom prst="ellipse">
            <a:avLst/>
          </a:prstGeom>
          <a:solidFill>
            <a:srgbClr val="36D1C4">
              <a:alpha val="18000"/>
            </a:srgbClr>
          </a:solidFill>
          <a:ln w="12700">
            <a:solidFill>
              <a:srgbClr val="36D1C4">
                <a:alpha val="5500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38360" y="2734056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567928" y="3493008"/>
            <a:ext cx="2670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Memory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613648" y="3904488"/>
            <a:ext cx="25786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A9B8C6"/>
                </a:solidFill>
              </a:rPr>
              <a:t>Graphs + vectors remember relationships and examples.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1993392" y="4992624"/>
            <a:ext cx="8183880" cy="777240"/>
          </a:xfrm>
          <a:prstGeom prst="roundRect">
            <a:avLst>
              <a:gd name="adj" fmla="val 9412"/>
            </a:avLst>
          </a:prstGeom>
          <a:solidFill>
            <a:srgbClr val="36D1C4"/>
          </a:solidFill>
          <a:ln w="11430">
            <a:solidFill>
              <a:srgbClr val="36D1C4">
                <a:alpha val="25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2286000" y="5202936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opportunity: a tutor that remembers, connects, and verifies.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PRODUCT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tutor made of 12 specialized agents working as a coordinated team.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1874520"/>
            <a:ext cx="3675888" cy="1078992"/>
          </a:xfrm>
          <a:prstGeom prst="roundRect">
            <a:avLst>
              <a:gd name="adj" fmla="val 6780"/>
            </a:avLst>
          </a:prstGeom>
          <a:solidFill>
            <a:srgbClr val="132A3E"/>
          </a:solidFill>
          <a:ln w="11430">
            <a:solidFill>
              <a:srgbClr val="36D1C4">
                <a:alpha val="45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2176272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99616" y="202996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agent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499616" y="23774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A9B8C6"/>
                </a:solidFill>
              </a:rPr>
              <a:t>A specialized AI role with a goal, rules, tools, and controlled memory.</a:t>
            </a:r>
            <a:endParaRPr lang="en-US" sz="1180" dirty="0"/>
          </a:p>
        </p:txBody>
      </p:sp>
      <p:sp>
        <p:nvSpPr>
          <p:cNvPr id="10" name="Shape 7"/>
          <p:cNvSpPr/>
          <p:nvPr/>
        </p:nvSpPr>
        <p:spPr>
          <a:xfrm>
            <a:off x="4846320" y="187452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92624" y="1993392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C4"/>
                </a:solidFill>
              </a:rPr>
              <a:t>1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14416" y="210312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29200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Diagnose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967728" y="187452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114032" y="1993392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C4"/>
                </a:solidFill>
              </a:rPr>
              <a:t>2</a:t>
            </a:r>
            <a:endParaRPr lang="en-US" sz="95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35824" y="210312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50608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</a:t>
            </a:r>
            <a:endParaRPr lang="en-US" sz="1350" dirty="0"/>
          </a:p>
        </p:txBody>
      </p:sp>
      <p:sp>
        <p:nvSpPr>
          <p:cNvPr id="18" name="Shape 13"/>
          <p:cNvSpPr/>
          <p:nvPr/>
        </p:nvSpPr>
        <p:spPr>
          <a:xfrm>
            <a:off x="9089136" y="187452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9235440" y="1993392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C4"/>
                </a:solidFill>
              </a:rPr>
              <a:t>3</a:t>
            </a:r>
            <a:endParaRPr lang="en-US" sz="9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857232" y="2103120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272016" y="25420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</a:t>
            </a:r>
            <a:endParaRPr lang="en-US" sz="1350" dirty="0"/>
          </a:p>
        </p:txBody>
      </p:sp>
      <p:sp>
        <p:nvSpPr>
          <p:cNvPr id="22" name="Shape 16"/>
          <p:cNvSpPr/>
          <p:nvPr/>
        </p:nvSpPr>
        <p:spPr>
          <a:xfrm>
            <a:off x="4846320" y="324612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4992624" y="3364992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C4"/>
                </a:solidFill>
              </a:rPr>
              <a:t>4</a:t>
            </a:r>
            <a:endParaRPr lang="en-US" sz="9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614416" y="3474720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29200" y="39136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6967728" y="324612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7114032" y="3364992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C4"/>
                </a:solidFill>
              </a:rPr>
              <a:t>5</a:t>
            </a:r>
            <a:endParaRPr lang="en-US" sz="95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35824" y="3474720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7150608" y="39136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Remediate</a:t>
            </a:r>
            <a:endParaRPr lang="en-US" sz="1350" dirty="0"/>
          </a:p>
        </p:txBody>
      </p:sp>
      <p:sp>
        <p:nvSpPr>
          <p:cNvPr id="30" name="Shape 22"/>
          <p:cNvSpPr/>
          <p:nvPr/>
        </p:nvSpPr>
        <p:spPr>
          <a:xfrm>
            <a:off x="9089136" y="3246120"/>
            <a:ext cx="1874520" cy="1078992"/>
          </a:xfrm>
          <a:prstGeom prst="roundRect">
            <a:avLst>
              <a:gd name="adj" fmla="val 678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9235440" y="3364992"/>
            <a:ext cx="2560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C4"/>
                </a:solidFill>
              </a:rPr>
              <a:t>6</a:t>
            </a:r>
            <a:endParaRPr lang="en-US" sz="95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57232" y="3474720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272016" y="3913632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Update</a:t>
            </a:r>
            <a:endParaRPr lang="en-US" sz="1350" dirty="0"/>
          </a:p>
        </p:txBody>
      </p:sp>
      <p:sp>
        <p:nvSpPr>
          <p:cNvPr id="34" name="Shape 25"/>
          <p:cNvSpPr/>
          <p:nvPr/>
        </p:nvSpPr>
        <p:spPr>
          <a:xfrm>
            <a:off x="685800" y="3337560"/>
            <a:ext cx="3685032" cy="2304288"/>
          </a:xfrm>
          <a:prstGeom prst="roundRect">
            <a:avLst>
              <a:gd name="adj" fmla="val 3175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35" name="Text 26"/>
          <p:cNvSpPr/>
          <p:nvPr/>
        </p:nvSpPr>
        <p:spPr>
          <a:xfrm>
            <a:off x="960120" y="3593592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learner arrives with a goal</a:t>
            </a:r>
            <a:endParaRPr lang="en-US" sz="2000" dirty="0"/>
          </a:p>
        </p:txBody>
      </p:sp>
      <p:sp>
        <p:nvSpPr>
          <p:cNvPr id="36" name="Text 27"/>
          <p:cNvSpPr/>
          <p:nvPr/>
        </p:nvSpPr>
        <p:spPr>
          <a:xfrm>
            <a:off x="969264" y="423367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A9B8C6"/>
                </a:solidFill>
              </a:rPr>
              <a:t>The system turns that goal into a living, explainable path backed by evidence.</a:t>
            </a:r>
            <a:endParaRPr lang="en-US" sz="1420" dirty="0"/>
          </a:p>
        </p:txBody>
      </p:sp>
      <p:sp>
        <p:nvSpPr>
          <p:cNvPr id="37" name="Shape 28"/>
          <p:cNvSpPr/>
          <p:nvPr/>
        </p:nvSpPr>
        <p:spPr>
          <a:xfrm>
            <a:off x="960120" y="5056632"/>
            <a:ext cx="2057400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1033272" y="5106924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agents · 1 experience</a:t>
            </a:r>
            <a:endParaRPr lang="en-US" sz="1020" dirty="0"/>
          </a:p>
        </p:txBody>
      </p:sp>
      <p:sp>
        <p:nvSpPr>
          <p:cNvPr id="39" name="Text 30"/>
          <p:cNvSpPr/>
          <p:nvPr/>
        </p:nvSpPr>
        <p:spPr>
          <a:xfrm>
            <a:off x="4855464" y="516636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5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= complete system</a:t>
            </a:r>
            <a:endParaRPr lang="en-US" sz="1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EXPERIENCE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a session feels like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experience is a learning loop, not an open-ended conversation.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4672" y="232257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33856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40" dirty="0"/>
          </a:p>
        </p:txBody>
      </p:sp>
      <p:sp>
        <p:nvSpPr>
          <p:cNvPr id="9" name="Shape 6"/>
          <p:cNvSpPr/>
          <p:nvPr/>
        </p:nvSpPr>
        <p:spPr>
          <a:xfrm>
            <a:off x="1847088" y="2505456"/>
            <a:ext cx="17373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048256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4560" y="2322576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23744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</a:t>
            </a:r>
            <a:endParaRPr lang="en-US" sz="1040" dirty="0"/>
          </a:p>
        </p:txBody>
      </p:sp>
      <p:sp>
        <p:nvSpPr>
          <p:cNvPr id="13" name="Shape 9"/>
          <p:cNvSpPr/>
          <p:nvPr/>
        </p:nvSpPr>
        <p:spPr>
          <a:xfrm>
            <a:off x="3236976" y="2505456"/>
            <a:ext cx="17373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3438144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84448" y="232257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913632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040" dirty="0"/>
          </a:p>
        </p:txBody>
      </p:sp>
      <p:sp>
        <p:nvSpPr>
          <p:cNvPr id="17" name="Shape 12"/>
          <p:cNvSpPr/>
          <p:nvPr/>
        </p:nvSpPr>
        <p:spPr>
          <a:xfrm>
            <a:off x="4626864" y="2505456"/>
            <a:ext cx="17373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828032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74336" y="2322576"/>
            <a:ext cx="246888" cy="2468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</a:t>
            </a:r>
            <a:endParaRPr lang="en-US" sz="1040" dirty="0"/>
          </a:p>
        </p:txBody>
      </p:sp>
      <p:sp>
        <p:nvSpPr>
          <p:cNvPr id="21" name="Shape 15"/>
          <p:cNvSpPr/>
          <p:nvPr/>
        </p:nvSpPr>
        <p:spPr>
          <a:xfrm>
            <a:off x="6016752" y="2505456"/>
            <a:ext cx="17373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6217920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4224" y="2322576"/>
            <a:ext cx="246888" cy="24688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6693408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</a:t>
            </a:r>
            <a:endParaRPr lang="en-US" sz="1040" dirty="0"/>
          </a:p>
        </p:txBody>
      </p:sp>
      <p:sp>
        <p:nvSpPr>
          <p:cNvPr id="25" name="Shape 18"/>
          <p:cNvSpPr/>
          <p:nvPr/>
        </p:nvSpPr>
        <p:spPr>
          <a:xfrm>
            <a:off x="7406640" y="2505456"/>
            <a:ext cx="17373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7607808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54112" y="2322576"/>
            <a:ext cx="246888" cy="2468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083296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Practice</a:t>
            </a:r>
            <a:endParaRPr lang="en-US" sz="1040" dirty="0"/>
          </a:p>
        </p:txBody>
      </p:sp>
      <p:sp>
        <p:nvSpPr>
          <p:cNvPr id="29" name="Shape 21"/>
          <p:cNvSpPr/>
          <p:nvPr/>
        </p:nvSpPr>
        <p:spPr>
          <a:xfrm>
            <a:off x="8796528" y="2505456"/>
            <a:ext cx="17373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30" name="Shape 22"/>
          <p:cNvSpPr/>
          <p:nvPr/>
        </p:nvSpPr>
        <p:spPr>
          <a:xfrm>
            <a:off x="8997696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144000" y="2322576"/>
            <a:ext cx="246888" cy="24688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9473184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</a:t>
            </a:r>
            <a:endParaRPr lang="en-US" sz="1040" dirty="0"/>
          </a:p>
        </p:txBody>
      </p:sp>
      <p:sp>
        <p:nvSpPr>
          <p:cNvPr id="33" name="Shape 24"/>
          <p:cNvSpPr/>
          <p:nvPr/>
        </p:nvSpPr>
        <p:spPr>
          <a:xfrm>
            <a:off x="10186416" y="2505456"/>
            <a:ext cx="17373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34" name="Shape 25"/>
          <p:cNvSpPr/>
          <p:nvPr/>
        </p:nvSpPr>
        <p:spPr>
          <a:xfrm>
            <a:off x="10387584" y="2148840"/>
            <a:ext cx="117043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533888" y="2322576"/>
            <a:ext cx="246888" cy="24688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863072" y="2258568"/>
            <a:ext cx="57607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+ graph</a:t>
            </a:r>
            <a:endParaRPr lang="en-US" sz="1040" dirty="0"/>
          </a:p>
        </p:txBody>
      </p:sp>
      <p:sp>
        <p:nvSpPr>
          <p:cNvPr id="37" name="Shape 27"/>
          <p:cNvSpPr/>
          <p:nvPr/>
        </p:nvSpPr>
        <p:spPr>
          <a:xfrm>
            <a:off x="4846320" y="3410712"/>
            <a:ext cx="2496312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992624" y="3584448"/>
            <a:ext cx="246888" cy="246888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321808" y="3520440"/>
            <a:ext cx="1901952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 there a gap?</a:t>
            </a:r>
            <a:endParaRPr lang="en-US" sz="1260" dirty="0"/>
          </a:p>
        </p:txBody>
      </p:sp>
      <p:sp>
        <p:nvSpPr>
          <p:cNvPr id="40" name="Shape 29"/>
          <p:cNvSpPr/>
          <p:nvPr/>
        </p:nvSpPr>
        <p:spPr>
          <a:xfrm>
            <a:off x="6099048" y="2862072"/>
            <a:ext cx="0" cy="548640"/>
          </a:xfrm>
          <a:prstGeom prst="line">
            <a:avLst/>
          </a:prstGeom>
          <a:noFill/>
          <a:ln w="1778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41" name="Shape 30"/>
          <p:cNvSpPr/>
          <p:nvPr/>
        </p:nvSpPr>
        <p:spPr>
          <a:xfrm>
            <a:off x="2788920" y="457200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2935224" y="4745736"/>
            <a:ext cx="246888" cy="246888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3264408" y="4681728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Yes → Remediation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6903720" y="4572000"/>
            <a:ext cx="2423160" cy="713232"/>
          </a:xfrm>
          <a:prstGeom prst="roundRect">
            <a:avLst>
              <a:gd name="adj" fmla="val 10256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050024" y="4745736"/>
            <a:ext cx="246888" cy="24688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7379208" y="4681728"/>
            <a:ext cx="18288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→ Next topic</a:t>
            </a:r>
            <a:endParaRPr lang="en-US" sz="1200" dirty="0"/>
          </a:p>
        </p:txBody>
      </p:sp>
      <p:sp>
        <p:nvSpPr>
          <p:cNvPr id="47" name="Shape 34"/>
          <p:cNvSpPr/>
          <p:nvPr/>
        </p:nvSpPr>
        <p:spPr>
          <a:xfrm>
            <a:off x="5440680" y="4114800"/>
            <a:ext cx="-1444752" cy="457200"/>
          </a:xfrm>
          <a:prstGeom prst="line">
            <a:avLst/>
          </a:prstGeom>
          <a:noFill/>
          <a:ln w="17780">
            <a:solidFill>
              <a:srgbClr val="F8C56B"/>
            </a:solidFill>
            <a:prstDash val="solid"/>
            <a:headEnd type="none"/>
            <a:tailEnd type="triangle"/>
          </a:ln>
        </p:spPr>
      </p:sp>
      <p:sp>
        <p:nvSpPr>
          <p:cNvPr id="48" name="Shape 35"/>
          <p:cNvSpPr/>
          <p:nvPr/>
        </p:nvSpPr>
        <p:spPr>
          <a:xfrm>
            <a:off x="6748272" y="4114800"/>
            <a:ext cx="1371600" cy="457200"/>
          </a:xfrm>
          <a:prstGeom prst="line">
            <a:avLst/>
          </a:prstGeom>
          <a:noFill/>
          <a:ln w="17780">
            <a:solidFill>
              <a:srgbClr val="7DE2A8"/>
            </a:solidFill>
            <a:prstDash val="solid"/>
            <a:headEnd type="none"/>
            <a:tailEnd type="triangle"/>
          </a:ln>
        </p:spPr>
      </p:sp>
      <p:sp>
        <p:nvSpPr>
          <p:cNvPr id="49" name="Text 36"/>
          <p:cNvSpPr/>
          <p:nvPr/>
        </p:nvSpPr>
        <p:spPr>
          <a:xfrm>
            <a:off x="1993392" y="5650992"/>
            <a:ext cx="8183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dirty="0">
                <a:solidFill>
                  <a:srgbClr val="A9B8C6"/>
                </a:solidFill>
              </a:rPr>
              <a:t>The learner can accept or adjust the plan. An error changes the path; it does not restart the conversation.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POSITIONING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makes us different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difference is not better conversation. It is how learning is decided, remembered, and proven.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1938528"/>
            <a:ext cx="5257800" cy="3639312"/>
          </a:xfrm>
          <a:prstGeom prst="roundRect">
            <a:avLst>
              <a:gd name="adj" fmla="val 2010"/>
            </a:avLst>
          </a:prstGeom>
          <a:solidFill>
            <a:srgbClr val="0D1D2B"/>
          </a:solidFill>
          <a:ln w="11430">
            <a:solidFill>
              <a:srgbClr val="2A4051">
                <a:alpha val="8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0" y="1938528"/>
            <a:ext cx="5257800" cy="3639312"/>
          </a:xfrm>
          <a:prstGeom prst="roundRect">
            <a:avLst>
              <a:gd name="adj" fmla="val 2010"/>
            </a:avLst>
          </a:prstGeom>
          <a:solidFill>
            <a:srgbClr val="132A3E"/>
          </a:solidFill>
          <a:ln w="11430">
            <a:solidFill>
              <a:srgbClr val="36D1C4">
                <a:alpha val="45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2258568"/>
            <a:ext cx="384048" cy="38404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9672" y="2240280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217627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Educational chatbot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7059168" y="21762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tutor</a:t>
            </a:r>
            <a:endParaRPr lang="en-US" sz="2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7552" y="2926080"/>
            <a:ext cx="201168" cy="2011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07592" y="2907792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9B8C6"/>
                </a:solidFill>
              </a:rPr>
              <a:t>Open conversation</a:t>
            </a:r>
            <a:endParaRPr lang="en-US" sz="117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2926080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839712" y="290779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5F8FB"/>
                </a:solidFill>
              </a:rPr>
              <a:t>Measurable goals</a:t>
            </a:r>
            <a:endParaRPr lang="en-US" sz="117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87552" y="3346704"/>
            <a:ext cx="201168" cy="20116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307592" y="3328416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9B8C6"/>
                </a:solidFill>
              </a:rPr>
              <a:t>Chat memory</a:t>
            </a:r>
            <a:endParaRPr lang="en-US" sz="117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0528" y="3346704"/>
            <a:ext cx="201168" cy="20116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839712" y="3328416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5F8FB"/>
                </a:solidFill>
              </a:rPr>
              <a:t>Profile + graph + evidence</a:t>
            </a:r>
            <a:endParaRPr lang="en-US" sz="117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7552" y="3767328"/>
            <a:ext cx="201168" cy="20116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1307592" y="3749040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9B8C6"/>
                </a:solidFill>
              </a:rPr>
              <a:t>One explanation</a:t>
            </a:r>
            <a:endParaRPr lang="en-US" sz="117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10528" y="3767328"/>
            <a:ext cx="201168" cy="201168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6839712" y="3749040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5F8FB"/>
                </a:solidFill>
              </a:rPr>
              <a:t>Multiple strategies &amp; hints</a:t>
            </a:r>
            <a:endParaRPr lang="en-US" sz="117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87552" y="4187952"/>
            <a:ext cx="201168" cy="201168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1307592" y="4169664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9B8C6"/>
                </a:solidFill>
              </a:rPr>
              <a:t>Right / wrong</a:t>
            </a:r>
            <a:endParaRPr lang="en-US" sz="117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510528" y="4187952"/>
            <a:ext cx="201168" cy="20116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6839712" y="4169664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5F8FB"/>
                </a:solidFill>
              </a:rPr>
              <a:t>Rubrics + reasoning</a:t>
            </a:r>
            <a:endParaRPr lang="en-US" sz="117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87552" y="4608576"/>
            <a:ext cx="201168" cy="201168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1307592" y="4590288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9B8C6"/>
                </a:solidFill>
              </a:rPr>
              <a:t>Optional sources</a:t>
            </a:r>
            <a:endParaRPr lang="en-US" sz="117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10528" y="4608576"/>
            <a:ext cx="201168" cy="20116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6839712" y="4590288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5F8FB"/>
                </a:solidFill>
              </a:rPr>
              <a:t>Research + verify + curate</a:t>
            </a:r>
            <a:endParaRPr lang="en-US" sz="1170" dirty="0"/>
          </a:p>
        </p:txBody>
      </p:sp>
      <p:pic>
        <p:nvPicPr>
          <p:cNvPr id="3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987552" y="5029200"/>
            <a:ext cx="201168" cy="201168"/>
          </a:xfrm>
          <a:prstGeom prst="rect">
            <a:avLst/>
          </a:prstGeom>
        </p:spPr>
      </p:pic>
      <p:sp>
        <p:nvSpPr>
          <p:cNvPr id="33" name="Text 18"/>
          <p:cNvSpPr/>
          <p:nvPr/>
        </p:nvSpPr>
        <p:spPr>
          <a:xfrm>
            <a:off x="1307592" y="5010912"/>
            <a:ext cx="41605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A9B8C6"/>
                </a:solidFill>
              </a:rPr>
              <a:t>Moves on by request</a:t>
            </a:r>
            <a:endParaRPr lang="en-US" sz="1170" dirty="0"/>
          </a:p>
        </p:txBody>
      </p:sp>
      <p:pic>
        <p:nvPicPr>
          <p:cNvPr id="34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6510528" y="5029200"/>
            <a:ext cx="201168" cy="201168"/>
          </a:xfrm>
          <a:prstGeom prst="rect">
            <a:avLst/>
          </a:prstGeom>
        </p:spPr>
      </p:pic>
      <p:sp>
        <p:nvSpPr>
          <p:cNvPr id="35" name="Text 19"/>
          <p:cNvSpPr/>
          <p:nvPr/>
        </p:nvSpPr>
        <p:spPr>
          <a:xfrm>
            <a:off x="6839712" y="5010912"/>
            <a:ext cx="41330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F5F8FB"/>
                </a:solidFill>
              </a:rPr>
              <a:t>Moves on by mastery</a:t>
            </a:r>
            <a:endParaRPr lang="en-US" sz="1170" dirty="0"/>
          </a:p>
        </p:txBody>
      </p:sp>
      <p:sp>
        <p:nvSpPr>
          <p:cNvPr id="36" name="Text 20"/>
          <p:cNvSpPr/>
          <p:nvPr/>
        </p:nvSpPr>
        <p:spPr>
          <a:xfrm>
            <a:off x="2212848" y="581558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b="1" spc="60" kern="0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TEACHING IS A SYSTEM, NOT A PROMPT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GOVERNANCE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Twelve specialists, one tutor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memorizing 12 agent names, think of four teams with separate responsibilities.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1938528"/>
            <a:ext cx="5230368" cy="1527048"/>
          </a:xfrm>
          <a:prstGeom prst="roundRect">
            <a:avLst>
              <a:gd name="adj" fmla="val 4790"/>
            </a:avLst>
          </a:prstGeom>
          <a:solidFill>
            <a:srgbClr val="0F2234"/>
          </a:solidFill>
          <a:ln w="11430">
            <a:solidFill>
              <a:srgbClr val="28455C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249424"/>
            <a:ext cx="621792" cy="621792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8136" y="2423160"/>
            <a:ext cx="265176" cy="26517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73352" y="2121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6D1C4"/>
                </a:solidFill>
              </a:rPr>
              <a:t>1 · COORDINATE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673352" y="2404872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Understand the goal and build the path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1673352" y="2871216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746504" y="292150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Orchestrator</a:t>
            </a:r>
            <a:endParaRPr lang="en-US" sz="840" dirty="0"/>
          </a:p>
        </p:txBody>
      </p:sp>
      <p:sp>
        <p:nvSpPr>
          <p:cNvPr id="13" name="Shape 10"/>
          <p:cNvSpPr/>
          <p:nvPr/>
        </p:nvSpPr>
        <p:spPr>
          <a:xfrm>
            <a:off x="2980944" y="2871216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54096" y="292150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 &amp; diagnosis</a:t>
            </a:r>
            <a:endParaRPr lang="en-US" sz="840" dirty="0"/>
          </a:p>
        </p:txBody>
      </p:sp>
      <p:sp>
        <p:nvSpPr>
          <p:cNvPr id="15" name="Shape 12"/>
          <p:cNvSpPr/>
          <p:nvPr/>
        </p:nvSpPr>
        <p:spPr>
          <a:xfrm>
            <a:off x="4288536" y="2871216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61688" y="292150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6263640" y="1938528"/>
            <a:ext cx="5230368" cy="1527048"/>
          </a:xfrm>
          <a:prstGeom prst="roundRect">
            <a:avLst>
              <a:gd name="adj" fmla="val 4790"/>
            </a:avLst>
          </a:prstGeom>
          <a:solidFill>
            <a:srgbClr val="0F2234"/>
          </a:solidFill>
          <a:ln w="11430">
            <a:solidFill>
              <a:srgbClr val="28455C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492240" y="2249424"/>
            <a:ext cx="621792" cy="621792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65976" y="2423160"/>
            <a:ext cx="265176" cy="26517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7251192" y="21214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6D1C4"/>
                </a:solidFill>
              </a:rPr>
              <a:t>2 · TEACH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7251192" y="2404872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Explain, connect, and practice</a:t>
            </a:r>
            <a:endParaRPr lang="en-US" sz="1520" dirty="0"/>
          </a:p>
        </p:txBody>
      </p:sp>
      <p:sp>
        <p:nvSpPr>
          <p:cNvPr id="22" name="Shape 18"/>
          <p:cNvSpPr/>
          <p:nvPr/>
        </p:nvSpPr>
        <p:spPr>
          <a:xfrm>
            <a:off x="7251192" y="2871216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324344" y="292150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Tutor</a:t>
            </a:r>
            <a:endParaRPr lang="en-US" sz="840" dirty="0"/>
          </a:p>
        </p:txBody>
      </p:sp>
      <p:sp>
        <p:nvSpPr>
          <p:cNvPr id="24" name="Shape 20"/>
          <p:cNvSpPr/>
          <p:nvPr/>
        </p:nvSpPr>
        <p:spPr>
          <a:xfrm>
            <a:off x="8558784" y="2871216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631936" y="292150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Connections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9866376" y="2871216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939528" y="292150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Generator</a:t>
            </a:r>
            <a:endParaRPr lang="en-US" sz="840" dirty="0"/>
          </a:p>
        </p:txBody>
      </p:sp>
      <p:sp>
        <p:nvSpPr>
          <p:cNvPr id="28" name="Shape 24"/>
          <p:cNvSpPr/>
          <p:nvPr/>
        </p:nvSpPr>
        <p:spPr>
          <a:xfrm>
            <a:off x="685800" y="3785616"/>
            <a:ext cx="5230368" cy="1527048"/>
          </a:xfrm>
          <a:prstGeom prst="roundRect">
            <a:avLst>
              <a:gd name="adj" fmla="val 4790"/>
            </a:avLst>
          </a:prstGeom>
          <a:solidFill>
            <a:srgbClr val="0F2234"/>
          </a:solidFill>
          <a:ln w="11430">
            <a:solidFill>
              <a:srgbClr val="28455C">
                <a:alpha val="9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914400" y="4096512"/>
            <a:ext cx="621792" cy="621792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8136" y="4270248"/>
            <a:ext cx="265176" cy="26517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1673352" y="3968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6D1C4"/>
                </a:solidFill>
              </a:rPr>
              <a:t>3 · MEASURE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673352" y="4251960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Assess and fix the root cause</a:t>
            </a:r>
            <a:endParaRPr lang="en-US" sz="1520" dirty="0"/>
          </a:p>
        </p:txBody>
      </p:sp>
      <p:sp>
        <p:nvSpPr>
          <p:cNvPr id="33" name="Shape 28"/>
          <p:cNvSpPr/>
          <p:nvPr/>
        </p:nvSpPr>
        <p:spPr>
          <a:xfrm>
            <a:off x="1673352" y="4718304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1746504" y="476859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Evaluator</a:t>
            </a:r>
            <a:endParaRPr lang="en-US" sz="840" dirty="0"/>
          </a:p>
        </p:txBody>
      </p:sp>
      <p:sp>
        <p:nvSpPr>
          <p:cNvPr id="35" name="Shape 30"/>
          <p:cNvSpPr/>
          <p:nvPr/>
        </p:nvSpPr>
        <p:spPr>
          <a:xfrm>
            <a:off x="2980944" y="4718304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3054096" y="476859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Remediation</a:t>
            </a:r>
            <a:endParaRPr lang="en-US" sz="840" dirty="0"/>
          </a:p>
        </p:txBody>
      </p:sp>
      <p:sp>
        <p:nvSpPr>
          <p:cNvPr id="37" name="Shape 32"/>
          <p:cNvSpPr/>
          <p:nvPr/>
        </p:nvSpPr>
        <p:spPr>
          <a:xfrm>
            <a:off x="4288536" y="4718304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361688" y="476859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Researcher</a:t>
            </a:r>
            <a:endParaRPr lang="en-US" sz="840" dirty="0"/>
          </a:p>
        </p:txBody>
      </p:sp>
      <p:sp>
        <p:nvSpPr>
          <p:cNvPr id="39" name="Shape 34"/>
          <p:cNvSpPr/>
          <p:nvPr/>
        </p:nvSpPr>
        <p:spPr>
          <a:xfrm>
            <a:off x="6263640" y="3785616"/>
            <a:ext cx="5230368" cy="1527048"/>
          </a:xfrm>
          <a:prstGeom prst="roundRect">
            <a:avLst>
              <a:gd name="adj" fmla="val 4790"/>
            </a:avLst>
          </a:prstGeom>
          <a:solidFill>
            <a:srgbClr val="0F2234"/>
          </a:solidFill>
          <a:ln w="11430">
            <a:solidFill>
              <a:srgbClr val="36D1C4">
                <a:alpha val="4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40" name="Shape 35"/>
          <p:cNvSpPr/>
          <p:nvPr/>
        </p:nvSpPr>
        <p:spPr>
          <a:xfrm>
            <a:off x="6492240" y="4096512"/>
            <a:ext cx="621792" cy="621792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65976" y="4270248"/>
            <a:ext cx="265176" cy="26517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251192" y="396849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6D1C4"/>
                </a:solidFill>
              </a:rPr>
              <a:t>4 · PROTECT</a:t>
            </a:r>
            <a:endParaRPr lang="en-US" sz="1000" dirty="0"/>
          </a:p>
        </p:txBody>
      </p:sp>
      <p:sp>
        <p:nvSpPr>
          <p:cNvPr id="43" name="Text 37"/>
          <p:cNvSpPr/>
          <p:nvPr/>
        </p:nvSpPr>
        <p:spPr>
          <a:xfrm>
            <a:off x="7251192" y="4251960"/>
            <a:ext cx="37490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 sources, truth, and safety</a:t>
            </a:r>
            <a:endParaRPr lang="en-US" sz="1520" dirty="0"/>
          </a:p>
        </p:txBody>
      </p:sp>
      <p:sp>
        <p:nvSpPr>
          <p:cNvPr id="44" name="Shape 38"/>
          <p:cNvSpPr/>
          <p:nvPr/>
        </p:nvSpPr>
        <p:spPr>
          <a:xfrm>
            <a:off x="7251192" y="4718304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7324344" y="476859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Curator</a:t>
            </a:r>
            <a:endParaRPr lang="en-US" sz="840" dirty="0"/>
          </a:p>
        </p:txBody>
      </p:sp>
      <p:sp>
        <p:nvSpPr>
          <p:cNvPr id="46" name="Shape 40"/>
          <p:cNvSpPr/>
          <p:nvPr/>
        </p:nvSpPr>
        <p:spPr>
          <a:xfrm>
            <a:off x="8558784" y="4718304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8631936" y="476859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Verifier</a:t>
            </a:r>
            <a:endParaRPr lang="en-US" sz="840" dirty="0"/>
          </a:p>
        </p:txBody>
      </p:sp>
      <p:sp>
        <p:nvSpPr>
          <p:cNvPr id="48" name="Shape 42"/>
          <p:cNvSpPr/>
          <p:nvPr/>
        </p:nvSpPr>
        <p:spPr>
          <a:xfrm>
            <a:off x="9866376" y="4718304"/>
            <a:ext cx="1179576" cy="310896"/>
          </a:xfrm>
          <a:prstGeom prst="roundRect">
            <a:avLst>
              <a:gd name="adj" fmla="val 17647"/>
            </a:avLst>
          </a:prstGeom>
          <a:solidFill>
            <a:srgbClr val="85F3EA">
              <a:alpha val="15000"/>
            </a:srgbClr>
          </a:solidFill>
          <a:ln w="7620">
            <a:solidFill>
              <a:srgbClr val="85F3EA">
                <a:alpha val="70000"/>
              </a:srgbClr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9939528" y="4768596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85F3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840" dirty="0"/>
          </a:p>
        </p:txBody>
      </p:sp>
      <p:sp>
        <p:nvSpPr>
          <p:cNvPr id="50" name="Text 44"/>
          <p:cNvSpPr/>
          <p:nvPr/>
        </p:nvSpPr>
        <p:spPr>
          <a:xfrm>
            <a:off x="1965960" y="5824728"/>
            <a:ext cx="8275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7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Separation of duties prevents the system from “approving itself.”</a:t>
            </a:r>
            <a:endParaRPr lang="en-US" sz="16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LEARNING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pedagogical advantage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tutor connects new knowledge to something the learner already understands.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41248" y="2331720"/>
            <a:ext cx="2359152" cy="987552"/>
          </a:xfrm>
          <a:prstGeom prst="roundRect">
            <a:avLst>
              <a:gd name="adj" fmla="val 7407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7552" y="2505456"/>
            <a:ext cx="246888" cy="246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16736" y="2441448"/>
            <a:ext cx="17647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already mastered</a:t>
            </a:r>
            <a:endParaRPr lang="en-US" sz="1230" dirty="0"/>
          </a:p>
        </p:txBody>
      </p:sp>
      <p:sp>
        <p:nvSpPr>
          <p:cNvPr id="9" name="Shape 6"/>
          <p:cNvSpPr/>
          <p:nvPr/>
        </p:nvSpPr>
        <p:spPr>
          <a:xfrm>
            <a:off x="4919472" y="2331720"/>
            <a:ext cx="2359152" cy="987552"/>
          </a:xfrm>
          <a:prstGeom prst="roundRect">
            <a:avLst>
              <a:gd name="adj" fmla="val 7407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65776" y="2505456"/>
            <a:ext cx="246888" cy="246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2441448"/>
            <a:ext cx="17647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Analogy / example</a:t>
            </a:r>
            <a:endParaRPr lang="en-US" sz="1230" dirty="0"/>
          </a:p>
        </p:txBody>
      </p:sp>
      <p:sp>
        <p:nvSpPr>
          <p:cNvPr id="12" name="Shape 8"/>
          <p:cNvSpPr/>
          <p:nvPr/>
        </p:nvSpPr>
        <p:spPr>
          <a:xfrm>
            <a:off x="8997696" y="2331720"/>
            <a:ext cx="2359152" cy="987552"/>
          </a:xfrm>
          <a:prstGeom prst="roundRect">
            <a:avLst>
              <a:gd name="adj" fmla="val 7407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0" y="250545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73184" y="2441448"/>
            <a:ext cx="176479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23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concept</a:t>
            </a:r>
            <a:endParaRPr lang="en-US" sz="1230" dirty="0"/>
          </a:p>
        </p:txBody>
      </p:sp>
      <p:sp>
        <p:nvSpPr>
          <p:cNvPr id="15" name="Shape 10"/>
          <p:cNvSpPr/>
          <p:nvPr/>
        </p:nvSpPr>
        <p:spPr>
          <a:xfrm>
            <a:off x="3218688" y="2816352"/>
            <a:ext cx="1673352" cy="0"/>
          </a:xfrm>
          <a:prstGeom prst="line">
            <a:avLst/>
          </a:prstGeom>
          <a:noFill/>
          <a:ln w="2540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6" name="Shape 11"/>
          <p:cNvSpPr/>
          <p:nvPr/>
        </p:nvSpPr>
        <p:spPr>
          <a:xfrm>
            <a:off x="7296912" y="2816352"/>
            <a:ext cx="1673352" cy="0"/>
          </a:xfrm>
          <a:prstGeom prst="line">
            <a:avLst/>
          </a:prstGeom>
          <a:noFill/>
          <a:ln w="2540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7" name="Text 12"/>
          <p:cNvSpPr/>
          <p:nvPr/>
        </p:nvSpPr>
        <p:spPr>
          <a:xfrm>
            <a:off x="3611880" y="3703320"/>
            <a:ext cx="4983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tutor checks whether the bridge worked</a:t>
            </a:r>
            <a:endParaRPr lang="en-US" sz="1900" dirty="0"/>
          </a:p>
        </p:txBody>
      </p:sp>
      <p:sp>
        <p:nvSpPr>
          <p:cNvPr id="18" name="Shape 13"/>
          <p:cNvSpPr/>
          <p:nvPr/>
        </p:nvSpPr>
        <p:spPr>
          <a:xfrm>
            <a:off x="1874520" y="4343400"/>
            <a:ext cx="2633472" cy="1024128"/>
          </a:xfrm>
          <a:prstGeom prst="roundRect">
            <a:avLst>
              <a:gd name="adj" fmla="val 7143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084832" y="4663440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468880" y="4517136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8C6"/>
                </a:solidFill>
              </a:rPr>
              <a:t>Reuses previous examples</a:t>
            </a:r>
            <a:endParaRPr lang="en-US" sz="1110" dirty="0"/>
          </a:p>
        </p:txBody>
      </p:sp>
      <p:sp>
        <p:nvSpPr>
          <p:cNvPr id="21" name="Shape 15"/>
          <p:cNvSpPr/>
          <p:nvPr/>
        </p:nvSpPr>
        <p:spPr>
          <a:xfrm>
            <a:off x="4828032" y="4343400"/>
            <a:ext cx="2633472" cy="1024128"/>
          </a:xfrm>
          <a:prstGeom prst="roundRect">
            <a:avLst>
              <a:gd name="adj" fmla="val 7143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038344" y="4663440"/>
            <a:ext cx="283464" cy="28346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422392" y="4517136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8C6"/>
                </a:solidFill>
              </a:rPr>
              <a:t>Marks where the analogy stops</a:t>
            </a:r>
            <a:endParaRPr lang="en-US" sz="1110" dirty="0"/>
          </a:p>
        </p:txBody>
      </p:sp>
      <p:sp>
        <p:nvSpPr>
          <p:cNvPr id="24" name="Shape 17"/>
          <p:cNvSpPr/>
          <p:nvPr/>
        </p:nvSpPr>
        <p:spPr>
          <a:xfrm>
            <a:off x="7781544" y="4343400"/>
            <a:ext cx="2633472" cy="1024128"/>
          </a:xfrm>
          <a:prstGeom prst="roundRect">
            <a:avLst>
              <a:gd name="adj" fmla="val 7143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91856" y="4663440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375904" y="4517136"/>
            <a:ext cx="18013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10" dirty="0">
                <a:solidFill>
                  <a:srgbClr val="A9B8C6"/>
                </a:solidFill>
              </a:rPr>
              <a:t>Remembers which connections work</a:t>
            </a:r>
            <a:endParaRPr lang="en-US" sz="1110" dirty="0"/>
          </a:p>
        </p:txBody>
      </p:sp>
      <p:sp>
        <p:nvSpPr>
          <p:cNvPr id="27" name="Shape 19"/>
          <p:cNvSpPr/>
          <p:nvPr/>
        </p:nvSpPr>
        <p:spPr>
          <a:xfrm>
            <a:off x="4645152" y="5687568"/>
            <a:ext cx="2880360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718304" y="5737860"/>
            <a:ext cx="2734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use → better teaching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· MEMORY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Three memories, not an endless chat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Conversation is only the interface. Learning is structured, persistent, and auditable.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3319272" cy="2011680"/>
          </a:xfrm>
          <a:prstGeom prst="roundRect">
            <a:avLst>
              <a:gd name="adj" fmla="val 3636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993392" y="2331720"/>
            <a:ext cx="786384" cy="786384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212848" y="2560320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246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36D1C4"/>
                </a:solidFill>
              </a:rPr>
              <a:t>RELATIONAL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097280" y="3566160"/>
            <a:ext cx="2578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Who the learner is, the plan, and assessed evidence.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4507992" y="2057400"/>
            <a:ext cx="3319272" cy="2011680"/>
          </a:xfrm>
          <a:prstGeom prst="roundRect">
            <a:avLst>
              <a:gd name="adj" fmla="val 3636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9864" y="2331720"/>
            <a:ext cx="786384" cy="786384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89320" y="2560320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73752" y="3246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36D1C4"/>
                </a:solidFill>
              </a:rPr>
              <a:t>GRAPH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873752" y="3566160"/>
            <a:ext cx="2578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Concepts, prerequisites, and mastery level.</a:t>
            </a:r>
            <a:endParaRPr lang="en-US" sz="1120" dirty="0"/>
          </a:p>
        </p:txBody>
      </p:sp>
      <p:sp>
        <p:nvSpPr>
          <p:cNvPr id="16" name="Shape 12"/>
          <p:cNvSpPr/>
          <p:nvPr/>
        </p:nvSpPr>
        <p:spPr>
          <a:xfrm>
            <a:off x="8284464" y="2057400"/>
            <a:ext cx="3319272" cy="2011680"/>
          </a:xfrm>
          <a:prstGeom prst="roundRect">
            <a:avLst>
              <a:gd name="adj" fmla="val 3636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46336" y="2331720"/>
            <a:ext cx="786384" cy="786384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65792" y="2560320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50224" y="324612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10" kern="0" dirty="0">
                <a:solidFill>
                  <a:srgbClr val="36D1C4"/>
                </a:solidFill>
              </a:rPr>
              <a:t>VECTOR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8650224" y="3566160"/>
            <a:ext cx="25786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Documents, examples, and semantic memories.</a:t>
            </a:r>
            <a:endParaRPr lang="en-US" sz="1120" dirty="0"/>
          </a:p>
        </p:txBody>
      </p:sp>
      <p:sp>
        <p:nvSpPr>
          <p:cNvPr id="21" name="Shape 16"/>
          <p:cNvSpPr/>
          <p:nvPr/>
        </p:nvSpPr>
        <p:spPr>
          <a:xfrm>
            <a:off x="2395728" y="4096512"/>
            <a:ext cx="3703320" cy="704088"/>
          </a:xfrm>
          <a:prstGeom prst="line">
            <a:avLst/>
          </a:prstGeom>
          <a:noFill/>
          <a:ln w="16510">
            <a:solidFill>
              <a:srgbClr val="52738A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172200" y="4096512"/>
            <a:ext cx="-73152" cy="704088"/>
          </a:xfrm>
          <a:prstGeom prst="line">
            <a:avLst/>
          </a:prstGeom>
          <a:noFill/>
          <a:ln w="16510">
            <a:solidFill>
              <a:srgbClr val="52738A"/>
            </a:solidFill>
            <a:prstDash val="solid"/>
            <a:headEnd type="none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9948672" y="4096512"/>
            <a:ext cx="-3849624" cy="704088"/>
          </a:xfrm>
          <a:prstGeom prst="line">
            <a:avLst/>
          </a:prstGeom>
          <a:noFill/>
          <a:ln w="16510">
            <a:solidFill>
              <a:srgbClr val="52738A"/>
            </a:solidFill>
            <a:prstDash val="solid"/>
            <a:headEnd type="none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3291840" y="4800600"/>
            <a:ext cx="5605272" cy="941832"/>
          </a:xfrm>
          <a:prstGeom prst="roundRect">
            <a:avLst>
              <a:gd name="adj" fmla="val 7767"/>
            </a:avLst>
          </a:prstGeom>
          <a:solidFill>
            <a:srgbClr val="132A3E"/>
          </a:solidFill>
          <a:ln w="11430">
            <a:solidFill>
              <a:srgbClr val="36D1C4">
                <a:alpha val="40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03320" y="5084064"/>
            <a:ext cx="329184" cy="3291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51960" y="5010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3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Chat is the interface. Truth lives in these memories.</a:t>
            </a:r>
            <a:endParaRPr lang="en-US" sz="1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· TRUST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Trust: sources are not improvised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Research, verification, and curation are different jobs. Separating them reduces hallucinations.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77240" y="2212848"/>
            <a:ext cx="3035808" cy="1956816"/>
          </a:xfrm>
          <a:prstGeom prst="roundRect">
            <a:avLst>
              <a:gd name="adj" fmla="val 3738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78408" y="23957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1C4"/>
                </a:solidFill>
              </a:rPr>
              <a:t>1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4832" y="2487168"/>
            <a:ext cx="420624" cy="42062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61288" y="313639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Research</a:t>
            </a:r>
            <a:endParaRPr lang="en-US" sz="1720" dirty="0"/>
          </a:p>
        </p:txBody>
      </p:sp>
      <p:sp>
        <p:nvSpPr>
          <p:cNvPr id="10" name="Text 7"/>
          <p:cNvSpPr/>
          <p:nvPr/>
        </p:nvSpPr>
        <p:spPr>
          <a:xfrm>
            <a:off x="1170432" y="35661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Find candidate resources.</a:t>
            </a:r>
            <a:endParaRPr lang="en-US" sz="1120" dirty="0"/>
          </a:p>
        </p:txBody>
      </p:sp>
      <p:sp>
        <p:nvSpPr>
          <p:cNvPr id="11" name="Shape 8"/>
          <p:cNvSpPr/>
          <p:nvPr/>
        </p:nvSpPr>
        <p:spPr>
          <a:xfrm>
            <a:off x="3849624" y="3172968"/>
            <a:ext cx="338328" cy="0"/>
          </a:xfrm>
          <a:prstGeom prst="line">
            <a:avLst/>
          </a:prstGeom>
          <a:noFill/>
          <a:ln w="2032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4233672" y="2212848"/>
            <a:ext cx="3035808" cy="1956816"/>
          </a:xfrm>
          <a:prstGeom prst="roundRect">
            <a:avLst>
              <a:gd name="adj" fmla="val 3738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434840" y="23957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1C4"/>
                </a:solidFill>
              </a:rPr>
              <a:t>2</a:t>
            </a:r>
            <a:endParaRPr lang="en-US" sz="1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41264" y="2487168"/>
            <a:ext cx="420624" cy="42062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617720" y="313639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Verify</a:t>
            </a:r>
            <a:endParaRPr lang="en-US" sz="1720" dirty="0"/>
          </a:p>
        </p:txBody>
      </p:sp>
      <p:sp>
        <p:nvSpPr>
          <p:cNvPr id="16" name="Text 12"/>
          <p:cNvSpPr/>
          <p:nvPr/>
        </p:nvSpPr>
        <p:spPr>
          <a:xfrm>
            <a:off x="4626864" y="35661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Check citations, contradictions, and confidence.</a:t>
            </a:r>
            <a:endParaRPr lang="en-US" sz="1120" dirty="0"/>
          </a:p>
        </p:txBody>
      </p:sp>
      <p:sp>
        <p:nvSpPr>
          <p:cNvPr id="17" name="Shape 13"/>
          <p:cNvSpPr/>
          <p:nvPr/>
        </p:nvSpPr>
        <p:spPr>
          <a:xfrm>
            <a:off x="7306056" y="3172968"/>
            <a:ext cx="338328" cy="0"/>
          </a:xfrm>
          <a:prstGeom prst="line">
            <a:avLst/>
          </a:prstGeom>
          <a:noFill/>
          <a:ln w="2032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7690104" y="2212848"/>
            <a:ext cx="3035808" cy="1956816"/>
          </a:xfrm>
          <a:prstGeom prst="roundRect">
            <a:avLst>
              <a:gd name="adj" fmla="val 3738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891272" y="2395728"/>
            <a:ext cx="329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1C4"/>
                </a:solidFill>
              </a:rPr>
              <a:t>3</a:t>
            </a:r>
            <a:endParaRPr lang="en-US" sz="1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7696" y="2487168"/>
            <a:ext cx="420624" cy="4206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74152" y="3136392"/>
            <a:ext cx="2267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Curate</a:t>
            </a:r>
            <a:endParaRPr lang="en-US" sz="1720" dirty="0"/>
          </a:p>
        </p:txBody>
      </p:sp>
      <p:sp>
        <p:nvSpPr>
          <p:cNvPr id="22" name="Text 17"/>
          <p:cNvSpPr/>
          <p:nvPr/>
        </p:nvSpPr>
        <p:spPr>
          <a:xfrm>
            <a:off x="8083296" y="3566160"/>
            <a:ext cx="2258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Decide what is included, updated, or removed.</a:t>
            </a:r>
            <a:endParaRPr lang="en-US" sz="1120" dirty="0"/>
          </a:p>
        </p:txBody>
      </p:sp>
      <p:sp>
        <p:nvSpPr>
          <p:cNvPr id="23" name="Shape 18"/>
          <p:cNvSpPr/>
          <p:nvPr/>
        </p:nvSpPr>
        <p:spPr>
          <a:xfrm>
            <a:off x="2084832" y="4700016"/>
            <a:ext cx="8065008" cy="914400"/>
          </a:xfrm>
          <a:prstGeom prst="roundRect">
            <a:avLst>
              <a:gd name="adj" fmla="val 8000"/>
            </a:avLst>
          </a:prstGeom>
          <a:solidFill>
            <a:srgbClr val="10263A"/>
          </a:solidFill>
          <a:ln w="11430">
            <a:solidFill>
              <a:srgbClr val="36D1C4">
                <a:alpha val="38000"/>
              </a:srgbClr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87168" y="4965192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063240" y="491947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3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Sensitive topics → safety can block or escalate to human review.</a:t>
            </a:r>
            <a:endParaRPr lang="en-US" sz="1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· 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Technology built to last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Pedagogy is the core. Models and databases can change without rebuilding the product.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425696" y="2157984"/>
            <a:ext cx="3337560" cy="1874520"/>
          </a:xfrm>
          <a:prstGeom prst="hexagon">
            <a:avLst/>
          </a:prstGeom>
          <a:solidFill>
            <a:srgbClr val="132A3E"/>
          </a:solidFill>
          <a:ln w="19050">
            <a:solidFill>
              <a:srgbClr val="36D1C4">
                <a:alpha val="7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432" y="2505456"/>
            <a:ext cx="512064" cy="5120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83480" y="3136392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PEDAGOGICAL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77240" y="2212848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08" y="2596896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44752" y="24231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models</a:t>
            </a:r>
            <a:endParaRPr lang="en-US" sz="1430" dirty="0"/>
          </a:p>
        </p:txBody>
      </p:sp>
      <p:sp>
        <p:nvSpPr>
          <p:cNvPr id="12" name="Text 8"/>
          <p:cNvSpPr/>
          <p:nvPr/>
        </p:nvSpPr>
        <p:spPr>
          <a:xfrm>
            <a:off x="1444752" y="2807208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9B8C6"/>
                </a:solidFill>
              </a:rPr>
              <a:t>Replaceable</a:t>
            </a:r>
            <a:endParaRPr lang="en-US" sz="1060" dirty="0"/>
          </a:p>
        </p:txBody>
      </p:sp>
      <p:sp>
        <p:nvSpPr>
          <p:cNvPr id="13" name="Shape 9"/>
          <p:cNvSpPr/>
          <p:nvPr/>
        </p:nvSpPr>
        <p:spPr>
          <a:xfrm>
            <a:off x="3392424" y="2798064"/>
            <a:ext cx="99669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777240" y="409651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448056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44752" y="430682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Orchestration</a:t>
            </a:r>
            <a:endParaRPr lang="en-US" sz="1430" dirty="0"/>
          </a:p>
        </p:txBody>
      </p:sp>
      <p:sp>
        <p:nvSpPr>
          <p:cNvPr id="17" name="Text 12"/>
          <p:cNvSpPr/>
          <p:nvPr/>
        </p:nvSpPr>
        <p:spPr>
          <a:xfrm>
            <a:off x="1444752" y="4690872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9B8C6"/>
                </a:solidFill>
              </a:rPr>
              <a:t>Python · LangChain · LangGraph</a:t>
            </a:r>
            <a:endParaRPr lang="en-US" sz="1060" dirty="0"/>
          </a:p>
        </p:txBody>
      </p:sp>
      <p:sp>
        <p:nvSpPr>
          <p:cNvPr id="18" name="Shape 13"/>
          <p:cNvSpPr/>
          <p:nvPr/>
        </p:nvSpPr>
        <p:spPr>
          <a:xfrm>
            <a:off x="3392424" y="4681728"/>
            <a:ext cx="99669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796528" y="2212848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97696" y="2596896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64040" y="2423160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</a:t>
            </a:r>
            <a:endParaRPr lang="en-US" sz="1430" dirty="0"/>
          </a:p>
        </p:txBody>
      </p:sp>
      <p:sp>
        <p:nvSpPr>
          <p:cNvPr id="22" name="Text 16"/>
          <p:cNvSpPr/>
          <p:nvPr/>
        </p:nvSpPr>
        <p:spPr>
          <a:xfrm>
            <a:off x="9464040" y="2807208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9B8C6"/>
                </a:solidFill>
              </a:rPr>
              <a:t>PostgreSQL · Neo4j · Vector DB</a:t>
            </a:r>
            <a:endParaRPr lang="en-US" sz="1060" dirty="0"/>
          </a:p>
        </p:txBody>
      </p:sp>
      <p:sp>
        <p:nvSpPr>
          <p:cNvPr id="23" name="Shape 17"/>
          <p:cNvSpPr/>
          <p:nvPr/>
        </p:nvSpPr>
        <p:spPr>
          <a:xfrm>
            <a:off x="8778240" y="2798064"/>
            <a:ext cx="-99669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796528" y="4096512"/>
            <a:ext cx="2606040" cy="1170432"/>
          </a:xfrm>
          <a:prstGeom prst="roundRect">
            <a:avLst>
              <a:gd name="adj" fmla="val 6250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97696" y="448056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464040" y="4306824"/>
            <a:ext cx="17007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Adapters</a:t>
            </a:r>
            <a:endParaRPr lang="en-US" sz="1430" dirty="0"/>
          </a:p>
        </p:txBody>
      </p:sp>
      <p:sp>
        <p:nvSpPr>
          <p:cNvPr id="27" name="Text 20"/>
          <p:cNvSpPr/>
          <p:nvPr/>
        </p:nvSpPr>
        <p:spPr>
          <a:xfrm>
            <a:off x="9464040" y="4690872"/>
            <a:ext cx="1673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A9B8C6"/>
                </a:solidFill>
              </a:rPr>
              <a:t>SQL / Cypher / APIs</a:t>
            </a:r>
            <a:endParaRPr lang="en-US" sz="1060" dirty="0"/>
          </a:p>
        </p:txBody>
      </p:sp>
      <p:sp>
        <p:nvSpPr>
          <p:cNvPr id="28" name="Shape 21"/>
          <p:cNvSpPr/>
          <p:nvPr/>
        </p:nvSpPr>
        <p:spPr>
          <a:xfrm>
            <a:off x="8778240" y="4681728"/>
            <a:ext cx="-996696" cy="0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29" name="Text 22"/>
          <p:cNvSpPr/>
          <p:nvPr/>
        </p:nvSpPr>
        <p:spPr>
          <a:xfrm>
            <a:off x="2057400" y="5669280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Changing providers ≠ rewriting how the system teaches</a:t>
            </a:r>
            <a:endParaRPr lang="en-US" sz="1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· INITIAL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Who we serve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goal-driven learners. Expand to teachers, institutions, and companies.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121408"/>
            <a:ext cx="2532888" cy="2240280"/>
          </a:xfrm>
          <a:prstGeom prst="roundRect">
            <a:avLst>
              <a:gd name="adj" fmla="val 3265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572768" y="2423160"/>
            <a:ext cx="749808" cy="749808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2224" y="2642616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35584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Self-learners</a:t>
            </a:r>
            <a:endParaRPr lang="en-US" sz="1580" dirty="0"/>
          </a:p>
        </p:txBody>
      </p:sp>
      <p:sp>
        <p:nvSpPr>
          <p:cNvPr id="10" name="Text 7"/>
          <p:cNvSpPr/>
          <p:nvPr/>
        </p:nvSpPr>
        <p:spPr>
          <a:xfrm>
            <a:off x="960120" y="3794760"/>
            <a:ext cx="1984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A9B8C6"/>
                </a:solidFill>
              </a:rPr>
              <a:t>Learn a skill with a clear path.</a:t>
            </a:r>
            <a:endParaRPr lang="en-US" sz="1070" dirty="0"/>
          </a:p>
        </p:txBody>
      </p:sp>
      <p:sp>
        <p:nvSpPr>
          <p:cNvPr id="11" name="Shape 8"/>
          <p:cNvSpPr/>
          <p:nvPr/>
        </p:nvSpPr>
        <p:spPr>
          <a:xfrm>
            <a:off x="3502152" y="2121408"/>
            <a:ext cx="2532888" cy="2240280"/>
          </a:xfrm>
          <a:prstGeom prst="roundRect">
            <a:avLst>
              <a:gd name="adj" fmla="val 3265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2423160"/>
            <a:ext cx="749808" cy="749808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8576" y="2642616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30752" y="335584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Professionals</a:t>
            </a:r>
            <a:endParaRPr lang="en-US" sz="1580" dirty="0"/>
          </a:p>
        </p:txBody>
      </p:sp>
      <p:sp>
        <p:nvSpPr>
          <p:cNvPr id="15" name="Text 11"/>
          <p:cNvSpPr/>
          <p:nvPr/>
        </p:nvSpPr>
        <p:spPr>
          <a:xfrm>
            <a:off x="3776472" y="3794760"/>
            <a:ext cx="1984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A9B8C6"/>
                </a:solidFill>
              </a:rPr>
              <a:t>Upgrade skills with evidence.</a:t>
            </a:r>
            <a:endParaRPr lang="en-US" sz="1070" dirty="0"/>
          </a:p>
        </p:txBody>
      </p:sp>
      <p:sp>
        <p:nvSpPr>
          <p:cNvPr id="16" name="Shape 12"/>
          <p:cNvSpPr/>
          <p:nvPr/>
        </p:nvSpPr>
        <p:spPr>
          <a:xfrm>
            <a:off x="6318504" y="2121408"/>
            <a:ext cx="2532888" cy="2240280"/>
          </a:xfrm>
          <a:prstGeom prst="roundRect">
            <a:avLst>
              <a:gd name="adj" fmla="val 3265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205472" y="2423160"/>
            <a:ext cx="749808" cy="749808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24928" y="2642616"/>
            <a:ext cx="310896" cy="3108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47104" y="335584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Teachers</a:t>
            </a:r>
            <a:endParaRPr lang="en-US" sz="1580" dirty="0"/>
          </a:p>
        </p:txBody>
      </p:sp>
      <p:sp>
        <p:nvSpPr>
          <p:cNvPr id="20" name="Text 15"/>
          <p:cNvSpPr/>
          <p:nvPr/>
        </p:nvSpPr>
        <p:spPr>
          <a:xfrm>
            <a:off x="6592824" y="3794760"/>
            <a:ext cx="1984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A9B8C6"/>
                </a:solidFill>
              </a:rPr>
              <a:t>Extend instruction and follow-up.</a:t>
            </a:r>
            <a:endParaRPr lang="en-US" sz="1070" dirty="0"/>
          </a:p>
        </p:txBody>
      </p:sp>
      <p:sp>
        <p:nvSpPr>
          <p:cNvPr id="21" name="Shape 16"/>
          <p:cNvSpPr/>
          <p:nvPr/>
        </p:nvSpPr>
        <p:spPr>
          <a:xfrm>
            <a:off x="9134856" y="2121408"/>
            <a:ext cx="2532888" cy="2240280"/>
          </a:xfrm>
          <a:prstGeom prst="roundRect">
            <a:avLst>
              <a:gd name="adj" fmla="val 3265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10021824" y="2423160"/>
            <a:ext cx="749808" cy="749808"/>
          </a:xfrm>
          <a:prstGeom prst="ellipse">
            <a:avLst/>
          </a:prstGeom>
          <a:solidFill>
            <a:srgbClr val="36D1C4">
              <a:alpha val="16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41280" y="2642616"/>
            <a:ext cx="310896" cy="3108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363456" y="3355848"/>
            <a:ext cx="2075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8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Companies</a:t>
            </a:r>
            <a:endParaRPr lang="en-US" sz="1580" dirty="0"/>
          </a:p>
        </p:txBody>
      </p:sp>
      <p:sp>
        <p:nvSpPr>
          <p:cNvPr id="25" name="Text 19"/>
          <p:cNvSpPr/>
          <p:nvPr/>
        </p:nvSpPr>
        <p:spPr>
          <a:xfrm>
            <a:off x="9409176" y="3794760"/>
            <a:ext cx="198424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dirty="0">
                <a:solidFill>
                  <a:srgbClr val="A9B8C6"/>
                </a:solidFill>
              </a:rPr>
              <a:t>Train for competence, not attendance.</a:t>
            </a:r>
            <a:endParaRPr lang="en-US" sz="1070" dirty="0"/>
          </a:p>
        </p:txBody>
      </p:sp>
      <p:sp>
        <p:nvSpPr>
          <p:cNvPr id="26" name="Shape 20"/>
          <p:cNvSpPr/>
          <p:nvPr/>
        </p:nvSpPr>
        <p:spPr>
          <a:xfrm>
            <a:off x="1874520" y="4864608"/>
            <a:ext cx="8439912" cy="868680"/>
          </a:xfrm>
          <a:prstGeom prst="roundRect">
            <a:avLst>
              <a:gd name="adj" fmla="val 8421"/>
            </a:avLst>
          </a:prstGeom>
          <a:solidFill>
            <a:srgbClr val="132A3E"/>
          </a:solidFill>
          <a:ln w="11430">
            <a:solidFill>
              <a:srgbClr val="36D1C4">
                <a:alpha val="35000"/>
              </a:srgbClr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240280" y="5138928"/>
            <a:ext cx="301752" cy="3017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2770632" y="5074920"/>
            <a:ext cx="6903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MVP: Spanish + a few tightly scoped domains → depth before breadth.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·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minimum viable 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MVP must prove one thing: evidence of learning.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1874520"/>
            <a:ext cx="10771632" cy="3584448"/>
          </a:xfrm>
          <a:prstGeom prst="roundRect">
            <a:avLst>
              <a:gd name="adj" fmla="val 2041"/>
            </a:avLst>
          </a:prstGeom>
          <a:solidFill>
            <a:srgbClr val="0B1A28"/>
          </a:solidFill>
          <a:ln w="11430">
            <a:solidFill>
              <a:srgbClr val="36556B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13232" y="1874520"/>
            <a:ext cx="10771632" cy="438912"/>
          </a:xfrm>
          <a:prstGeom prst="rect">
            <a:avLst/>
          </a:prstGeom>
          <a:solidFill>
            <a:srgbClr val="13283A"/>
          </a:solidFill>
          <a:ln w="12700">
            <a:solidFill>
              <a:srgbClr val="132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50976" y="2029968"/>
            <a:ext cx="100584" cy="100584"/>
          </a:xfrm>
          <a:prstGeom prst="ellipse">
            <a:avLst/>
          </a:prstGeom>
          <a:solidFill>
            <a:srgbClr val="6F8392"/>
          </a:solidFill>
          <a:ln w="12700">
            <a:solidFill>
              <a:srgbClr val="6F839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0432" y="2029968"/>
            <a:ext cx="100584" cy="100584"/>
          </a:xfrm>
          <a:prstGeom prst="ellipse">
            <a:avLst/>
          </a:prstGeom>
          <a:solidFill>
            <a:srgbClr val="577087"/>
          </a:solidFill>
          <a:ln w="12700">
            <a:solidFill>
              <a:srgbClr val="57708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89888" y="2029968"/>
            <a:ext cx="100584" cy="100584"/>
          </a:xfrm>
          <a:prstGeom prst="ellipse">
            <a:avLst/>
          </a:prstGeom>
          <a:solidFill>
            <a:srgbClr val="455E72"/>
          </a:solidFill>
          <a:ln w="12700">
            <a:solidFill>
              <a:srgbClr val="455E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24128" y="2578608"/>
            <a:ext cx="1828800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2628900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DIAGNOSIS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1024128" y="3054096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7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Goal: learn percentages</a:t>
            </a:r>
            <a:endParaRPr lang="en-US" sz="1470" dirty="0"/>
          </a:p>
        </p:txBody>
      </p:sp>
      <p:sp>
        <p:nvSpPr>
          <p:cNvPr id="14" name="Text 12"/>
          <p:cNvSpPr/>
          <p:nvPr/>
        </p:nvSpPr>
        <p:spPr>
          <a:xfrm>
            <a:off x="1024128" y="3511296"/>
            <a:ext cx="257860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✓ Masters ratios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△ Unsure with fractions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→ Personalized path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3867912" y="2514600"/>
            <a:ext cx="0" cy="2542032"/>
          </a:xfrm>
          <a:prstGeom prst="line">
            <a:avLst/>
          </a:prstGeom>
          <a:noFill/>
          <a:ln w="12700">
            <a:solidFill>
              <a:srgbClr val="2845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42816" y="2578608"/>
            <a:ext cx="1490472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15968" y="2628900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LESSON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4242816" y="3054096"/>
            <a:ext cx="2596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“50% means half”</a:t>
            </a:r>
            <a:endParaRPr lang="en-US" sz="1620" dirty="0"/>
          </a:p>
        </p:txBody>
      </p:sp>
      <p:sp>
        <p:nvSpPr>
          <p:cNvPr id="19" name="Text 17"/>
          <p:cNvSpPr/>
          <p:nvPr/>
        </p:nvSpPr>
        <p:spPr>
          <a:xfrm>
            <a:off x="4242816" y="3547872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Connects to mastered ratios and creates a short practice task.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4242816" y="4480560"/>
            <a:ext cx="2212848" cy="310896"/>
          </a:xfrm>
          <a:prstGeom prst="roundRect">
            <a:avLst>
              <a:gd name="adj" fmla="val 17647"/>
            </a:avLst>
          </a:prstGeom>
          <a:solidFill>
            <a:srgbClr val="F8C56B">
              <a:alpha val="15000"/>
            </a:srgbClr>
          </a:solidFill>
          <a:ln w="7620">
            <a:solidFill>
              <a:srgbClr val="F8C56B">
                <a:alpha val="7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15968" y="4530852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8C5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Previously successful example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7095744" y="2514600"/>
            <a:ext cx="0" cy="2542032"/>
          </a:xfrm>
          <a:prstGeom prst="line">
            <a:avLst/>
          </a:prstGeom>
          <a:noFill/>
          <a:ln w="12700">
            <a:solidFill>
              <a:srgbClr val="28455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98080" y="2578608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71232" y="262890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EVIDENCE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7498080" y="3054096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7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</a:t>
            </a:r>
            <a:endParaRPr lang="en-US" sz="1570" dirty="0"/>
          </a:p>
        </p:txBody>
      </p:sp>
      <p:sp>
        <p:nvSpPr>
          <p:cNvPr id="26" name="Text 24"/>
          <p:cNvSpPr/>
          <p:nvPr/>
        </p:nvSpPr>
        <p:spPr>
          <a:xfrm>
            <a:off x="7498080" y="3493008"/>
            <a:ext cx="240487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9B8C6"/>
                </a:solidFill>
              </a:rPr>
              <a:t>83% mastery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8C6"/>
                </a:solidFill>
              </a:rPr>
              <a:t>1 gap detected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9B8C6"/>
                </a:solidFill>
              </a:rPr>
              <a:t>Remediation triggered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498080" y="4572000"/>
            <a:ext cx="2487168" cy="146304"/>
          </a:xfrm>
          <a:prstGeom prst="rect">
            <a:avLst/>
          </a:prstGeom>
          <a:solidFill>
            <a:srgbClr val="1D3C50"/>
          </a:solidFill>
          <a:ln w="12700">
            <a:solidFill>
              <a:srgbClr val="1D3C5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572000"/>
            <a:ext cx="2066544" cy="146304"/>
          </a:xfrm>
          <a:prstGeom prst="rect">
            <a:avLst/>
          </a:prstGeom>
          <a:solidFill>
            <a:srgbClr val="36D1C4"/>
          </a:solidFill>
          <a:ln w="12700">
            <a:solidFill>
              <a:srgbClr val="36D1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090672" y="5696712"/>
            <a:ext cx="5998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= evidence of learning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·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pedagogical core once; later phases expand experience and distribution.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914400" y="4370832"/>
            <a:ext cx="3273552" cy="1170432"/>
          </a:xfrm>
          <a:prstGeom prst="roundRect">
            <a:avLst>
              <a:gd name="adj" fmla="val 6250"/>
            </a:avLst>
          </a:prstGeom>
          <a:solidFill>
            <a:srgbClr val="132A3E"/>
          </a:solidFill>
          <a:ln w="11430">
            <a:solidFill>
              <a:srgbClr val="36D1C4">
                <a:alpha val="5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2144" y="46268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73352" y="458114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6D1C4"/>
                </a:solidFill>
              </a:rPr>
              <a:t>NOW · MVP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88720" y="5065776"/>
            <a:ext cx="2724912" cy="2926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 tutor in 1–few domains.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Measurable learning.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206240" y="4937760"/>
            <a:ext cx="384048" cy="-640080"/>
          </a:xfrm>
          <a:prstGeom prst="line">
            <a:avLst/>
          </a:prstGeom>
          <a:noFill/>
          <a:ln w="1778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645152" y="3611880"/>
            <a:ext cx="3273552" cy="1929384"/>
          </a:xfrm>
          <a:prstGeom prst="roundRect">
            <a:avLst>
              <a:gd name="adj" fmla="val 3791"/>
            </a:avLst>
          </a:prstGeom>
          <a:solidFill>
            <a:srgbClr val="0F2234"/>
          </a:solidFill>
          <a:ln w="11430">
            <a:solidFill>
              <a:srgbClr val="28455C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2896" y="386791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04104" y="382219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6D1C4"/>
                </a:solidFill>
              </a:rPr>
              <a:t>PHASE 2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919472" y="4306824"/>
            <a:ext cx="2724912" cy="10515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calendar, progress dashboard, languages, voice, more exercises.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7936992" y="4178808"/>
            <a:ext cx="384048" cy="-640080"/>
          </a:xfrm>
          <a:prstGeom prst="line">
            <a:avLst/>
          </a:prstGeom>
          <a:noFill/>
          <a:ln w="17780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8375904" y="2852928"/>
            <a:ext cx="3273552" cy="2688336"/>
          </a:xfrm>
          <a:prstGeom prst="roundRect">
            <a:avLst>
              <a:gd name="adj" fmla="val 2721"/>
            </a:avLst>
          </a:prstGeom>
          <a:solidFill>
            <a:srgbClr val="0F2234"/>
          </a:solidFill>
          <a:ln w="11430">
            <a:solidFill>
              <a:srgbClr val="28455C">
                <a:alpha val="92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13648" y="3108960"/>
            <a:ext cx="347472" cy="34747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34856" y="30632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6D1C4"/>
                </a:solidFill>
              </a:rPr>
              <a:t>PHASE 3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8650224" y="3547872"/>
            <a:ext cx="2724912" cy="18105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Teachers, organizations, LMS, multimodal content, groups.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507992" y="5788152"/>
            <a:ext cx="3182112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581144" y="5838444"/>
            <a:ext cx="3035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Same pedagogical core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· VALUE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value is created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commercial paths plus a proprietary learning asset that improves with use.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21488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9264" y="2395728"/>
            <a:ext cx="548640" cy="548640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6424" y="2532888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3774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B2C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645920" y="2770632"/>
            <a:ext cx="216712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 for self-learners and professionals.</a:t>
            </a:r>
            <a:endParaRPr lang="en-US" sz="1160" dirty="0"/>
          </a:p>
        </p:txBody>
      </p:sp>
      <p:sp>
        <p:nvSpPr>
          <p:cNvPr id="11" name="Shape 8"/>
          <p:cNvSpPr/>
          <p:nvPr/>
        </p:nvSpPr>
        <p:spPr>
          <a:xfrm>
            <a:off x="4489704" y="21488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45736" y="2395728"/>
            <a:ext cx="548640" cy="548640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2896" y="2532888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22392" y="23774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Education B2B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5422392" y="2770632"/>
            <a:ext cx="216712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Teachers and institutions needing traceability.</a:t>
            </a:r>
            <a:endParaRPr lang="en-US" sz="1160" dirty="0"/>
          </a:p>
        </p:txBody>
      </p:sp>
      <p:sp>
        <p:nvSpPr>
          <p:cNvPr id="16" name="Shape 12"/>
          <p:cNvSpPr/>
          <p:nvPr/>
        </p:nvSpPr>
        <p:spPr>
          <a:xfrm>
            <a:off x="8266176" y="2148840"/>
            <a:ext cx="3337560" cy="1417320"/>
          </a:xfrm>
          <a:prstGeom prst="roundRect">
            <a:avLst>
              <a:gd name="adj" fmla="val 516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522208" y="2395728"/>
            <a:ext cx="548640" cy="548640"/>
          </a:xfrm>
          <a:prstGeom prst="ellipse">
            <a:avLst/>
          </a:prstGeom>
          <a:solidFill>
            <a:srgbClr val="36D1C4">
              <a:alpha val="17000"/>
            </a:srgbClr>
          </a:solidFill>
          <a:ln w="12700">
            <a:solidFill>
              <a:srgbClr val="36D1C4">
                <a:alpha val="5000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59368" y="2532888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98864" y="2377440"/>
            <a:ext cx="2167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Corporate B2B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9198864" y="2770632"/>
            <a:ext cx="2167128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with evidence of competence.</a:t>
            </a:r>
            <a:endParaRPr lang="en-US" sz="1160" dirty="0"/>
          </a:p>
        </p:txBody>
      </p:sp>
      <p:sp>
        <p:nvSpPr>
          <p:cNvPr id="21" name="Shape 16"/>
          <p:cNvSpPr/>
          <p:nvPr/>
        </p:nvSpPr>
        <p:spPr>
          <a:xfrm>
            <a:off x="1572768" y="4187952"/>
            <a:ext cx="9034272" cy="1463040"/>
          </a:xfrm>
          <a:prstGeom prst="roundRect">
            <a:avLst>
              <a:gd name="adj" fmla="val 5000"/>
            </a:avLst>
          </a:prstGeom>
          <a:solidFill>
            <a:srgbClr val="132A3E"/>
          </a:solidFill>
          <a:ln w="11430">
            <a:solidFill>
              <a:srgbClr val="36D1C4">
                <a:alpha val="40000"/>
              </a:srgbClr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993392" y="4681728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2615184" y="4425696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spc="110" kern="0" dirty="0">
                <a:solidFill>
                  <a:srgbClr val="36D1C4"/>
                </a:solidFill>
              </a:rPr>
              <a:t>PROPRIETARY ASSET</a:t>
            </a:r>
            <a:endParaRPr lang="en-US" sz="980" dirty="0"/>
          </a:p>
        </p:txBody>
      </p:sp>
      <p:sp>
        <p:nvSpPr>
          <p:cNvPr id="24" name="Text 18"/>
          <p:cNvSpPr/>
          <p:nvPr/>
        </p:nvSpPr>
        <p:spPr>
          <a:xfrm>
            <a:off x="2615184" y="4736592"/>
            <a:ext cx="41605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Each learner’s learning graph</a:t>
            </a:r>
            <a:endParaRPr lang="en-US" sz="1720" dirty="0"/>
          </a:p>
        </p:txBody>
      </p:sp>
      <p:sp>
        <p:nvSpPr>
          <p:cNvPr id="25" name="Text 19"/>
          <p:cNvSpPr/>
          <p:nvPr/>
        </p:nvSpPr>
        <p:spPr>
          <a:xfrm>
            <a:off x="2615184" y="5138928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A9B8C6"/>
                </a:solidFill>
              </a:rPr>
              <a:t>Which anchor works · what fails · which analogy helps · what mastery was proven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· RISK &amp; CONTROL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 designed from day one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do not promise magic. We design how failures are detected, contained, and escalated.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85800" y="2029968"/>
            <a:ext cx="3401568" cy="1362456"/>
          </a:xfrm>
          <a:prstGeom prst="roundRect">
            <a:avLst>
              <a:gd name="adj" fmla="val 5369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6112" y="2377440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62456" y="223113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Hallucinations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1362456" y="265176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9B8C6"/>
                </a:solidFill>
              </a:rPr>
              <a:t>Verify sources; cite or stay silent.</a:t>
            </a:r>
            <a:endParaRPr lang="en-US" sz="1080" dirty="0"/>
          </a:p>
        </p:txBody>
      </p:sp>
      <p:sp>
        <p:nvSpPr>
          <p:cNvPr id="10" name="Shape 7"/>
          <p:cNvSpPr/>
          <p:nvPr/>
        </p:nvSpPr>
        <p:spPr>
          <a:xfrm>
            <a:off x="4471416" y="2029968"/>
            <a:ext cx="3401568" cy="1362456"/>
          </a:xfrm>
          <a:prstGeom prst="roundRect">
            <a:avLst>
              <a:gd name="adj" fmla="val 5369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1728" y="23774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48072" y="223113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Unfair assessment</a:t>
            </a:r>
            <a:endParaRPr lang="en-US" sz="1420" dirty="0"/>
          </a:p>
        </p:txBody>
      </p:sp>
      <p:sp>
        <p:nvSpPr>
          <p:cNvPr id="13" name="Text 9"/>
          <p:cNvSpPr/>
          <p:nvPr/>
        </p:nvSpPr>
        <p:spPr>
          <a:xfrm>
            <a:off x="5148072" y="265176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9B8C6"/>
                </a:solidFill>
              </a:rPr>
              <a:t>Rubrics + multiple evidence + human review.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257032" y="2029968"/>
            <a:ext cx="3401568" cy="1362456"/>
          </a:xfrm>
          <a:prstGeom prst="roundRect">
            <a:avLst>
              <a:gd name="adj" fmla="val 5369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67344" y="237744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933688" y="2231136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Token costs</a:t>
            </a:r>
            <a:endParaRPr lang="en-US" sz="1420" dirty="0"/>
          </a:p>
        </p:txBody>
      </p:sp>
      <p:sp>
        <p:nvSpPr>
          <p:cNvPr id="17" name="Text 12"/>
          <p:cNvSpPr/>
          <p:nvPr/>
        </p:nvSpPr>
        <p:spPr>
          <a:xfrm>
            <a:off x="8933688" y="2651760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9B8C6"/>
                </a:solidFill>
              </a:rPr>
              <a:t>Models matched to complexity and budget.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85800" y="3694176"/>
            <a:ext cx="3401568" cy="1362456"/>
          </a:xfrm>
          <a:prstGeom prst="roundRect">
            <a:avLst>
              <a:gd name="adj" fmla="val 5369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6112" y="4041648"/>
            <a:ext cx="310896" cy="31089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362456" y="3895344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Vendor lock-in</a:t>
            </a:r>
            <a:endParaRPr lang="en-US" sz="1420" dirty="0"/>
          </a:p>
        </p:txBody>
      </p:sp>
      <p:sp>
        <p:nvSpPr>
          <p:cNvPr id="21" name="Text 15"/>
          <p:cNvSpPr/>
          <p:nvPr/>
        </p:nvSpPr>
        <p:spPr>
          <a:xfrm>
            <a:off x="1362456" y="4315968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9B8C6"/>
                </a:solidFill>
              </a:rPr>
              <a:t>Replaceable ports and adapters.</a:t>
            </a:r>
            <a:endParaRPr lang="en-US" sz="1080" dirty="0"/>
          </a:p>
        </p:txBody>
      </p:sp>
      <p:sp>
        <p:nvSpPr>
          <p:cNvPr id="22" name="Shape 16"/>
          <p:cNvSpPr/>
          <p:nvPr/>
        </p:nvSpPr>
        <p:spPr>
          <a:xfrm>
            <a:off x="4471416" y="3694176"/>
            <a:ext cx="3401568" cy="1362456"/>
          </a:xfrm>
          <a:prstGeom prst="roundRect">
            <a:avLst>
              <a:gd name="adj" fmla="val 5369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81728" y="4041648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148072" y="3895344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Privacy</a:t>
            </a:r>
            <a:endParaRPr lang="en-US" sz="1420" dirty="0"/>
          </a:p>
        </p:txBody>
      </p:sp>
      <p:sp>
        <p:nvSpPr>
          <p:cNvPr id="25" name="Text 18"/>
          <p:cNvSpPr/>
          <p:nvPr/>
        </p:nvSpPr>
        <p:spPr>
          <a:xfrm>
            <a:off x="5148072" y="4315968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9B8C6"/>
                </a:solidFill>
              </a:rPr>
              <a:t>Consent, isolation, and deletion.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8257032" y="3694176"/>
            <a:ext cx="3401568" cy="1362456"/>
          </a:xfrm>
          <a:prstGeom prst="roundRect">
            <a:avLst>
              <a:gd name="adj" fmla="val 5369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467344" y="4041648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933688" y="3895344"/>
            <a:ext cx="23591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Multi-agent complexity</a:t>
            </a:r>
            <a:endParaRPr lang="en-US" sz="1420" dirty="0"/>
          </a:p>
        </p:txBody>
      </p:sp>
      <p:sp>
        <p:nvSpPr>
          <p:cNvPr id="29" name="Text 21"/>
          <p:cNvSpPr/>
          <p:nvPr/>
        </p:nvSpPr>
        <p:spPr>
          <a:xfrm>
            <a:off x="8933688" y="4315968"/>
            <a:ext cx="23957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A9B8C6"/>
                </a:solidFill>
              </a:rPr>
              <a:t>Clear contracts + one orchestrator.</a:t>
            </a:r>
            <a:endParaRPr lang="en-US" sz="1080" dirty="0"/>
          </a:p>
        </p:txBody>
      </p:sp>
      <p:sp>
        <p:nvSpPr>
          <p:cNvPr id="30" name="Text 22"/>
          <p:cNvSpPr/>
          <p:nvPr/>
        </p:nvSpPr>
        <p:spPr>
          <a:xfrm>
            <a:off x="2011680" y="5687568"/>
            <a:ext cx="8183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design how the system fails, not only how it works.</a:t>
            </a:r>
            <a:endParaRPr lang="en-US" sz="1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· INVESTMENT / PARTNERSHIP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are looking for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Capital or a strategic partnership to build, test, and validate the MVP in a real domain.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782312" y="2423160"/>
            <a:ext cx="2633472" cy="2633472"/>
          </a:xfrm>
          <a:prstGeom prst="ellipse">
            <a:avLst/>
          </a:prstGeom>
          <a:solidFill>
            <a:srgbClr val="132A3E"/>
          </a:solidFill>
          <a:ln w="19050">
            <a:solidFill>
              <a:srgbClr val="36D1C4">
                <a:alpha val="70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432" y="2944368"/>
            <a:ext cx="713232" cy="7132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212080" y="385876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VALIDATE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04672" y="201168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9264" y="21579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1C4"/>
                </a:solidFill>
              </a:rPr>
              <a:t>1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61872" y="2404872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00784" y="224942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Define first domain + rubrics</a:t>
            </a:r>
            <a:endParaRPr lang="en-US" sz="1240" dirty="0"/>
          </a:p>
        </p:txBody>
      </p:sp>
      <p:sp>
        <p:nvSpPr>
          <p:cNvPr id="13" name="Shape 9"/>
          <p:cNvSpPr/>
          <p:nvPr/>
        </p:nvSpPr>
        <p:spPr>
          <a:xfrm>
            <a:off x="3529584" y="2615184"/>
            <a:ext cx="1133856" cy="996696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804672" y="429768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69264" y="44439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1C4"/>
                </a:solidFill>
              </a:rPr>
              <a:t>2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61872" y="4690872"/>
            <a:ext cx="301752" cy="30175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00784" y="453542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agents + memory + verification</a:t>
            </a:r>
            <a:endParaRPr lang="en-US" sz="1240" dirty="0"/>
          </a:p>
        </p:txBody>
      </p:sp>
      <p:sp>
        <p:nvSpPr>
          <p:cNvPr id="18" name="Shape 13"/>
          <p:cNvSpPr/>
          <p:nvPr/>
        </p:nvSpPr>
        <p:spPr>
          <a:xfrm>
            <a:off x="3529584" y="4901184"/>
            <a:ext cx="1133856" cy="-1289304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8641080" y="201168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805672" y="21579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1C4"/>
                </a:solidFill>
              </a:rPr>
              <a:t>3</a:t>
            </a:r>
            <a:endParaRPr lang="en-US" sz="10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98280" y="2404872"/>
            <a:ext cx="301752" cy="3017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537192" y="224942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Run a measurable pilot</a:t>
            </a:r>
            <a:endParaRPr lang="en-US" sz="1240" dirty="0"/>
          </a:p>
        </p:txBody>
      </p:sp>
      <p:sp>
        <p:nvSpPr>
          <p:cNvPr id="23" name="Shape 17"/>
          <p:cNvSpPr/>
          <p:nvPr/>
        </p:nvSpPr>
        <p:spPr>
          <a:xfrm>
            <a:off x="8613648" y="2615184"/>
            <a:ext cx="-1133856" cy="996696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8641080" y="4297680"/>
            <a:ext cx="2724912" cy="1207008"/>
          </a:xfrm>
          <a:prstGeom prst="roundRect">
            <a:avLst>
              <a:gd name="adj" fmla="val 6061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805672" y="4443984"/>
            <a:ext cx="256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6D1C4"/>
                </a:solidFill>
              </a:rPr>
              <a:t>4</a:t>
            </a:r>
            <a:endParaRPr lang="en-US" sz="100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98280" y="4690872"/>
            <a:ext cx="301752" cy="30175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537192" y="4535424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Compare diagnosis vs. outcome</a:t>
            </a:r>
            <a:endParaRPr lang="en-US" sz="1240" dirty="0"/>
          </a:p>
        </p:txBody>
      </p:sp>
      <p:sp>
        <p:nvSpPr>
          <p:cNvPr id="28" name="Shape 21"/>
          <p:cNvSpPr/>
          <p:nvPr/>
        </p:nvSpPr>
        <p:spPr>
          <a:xfrm>
            <a:off x="8613648" y="4901184"/>
            <a:ext cx="-1133856" cy="-1289304"/>
          </a:xfrm>
          <a:prstGeom prst="line">
            <a:avLst/>
          </a:prstGeom>
          <a:noFill/>
          <a:ln w="13970">
            <a:solidFill>
              <a:srgbClr val="4A718A"/>
            </a:solidFill>
            <a:prstDash val="solid"/>
            <a:headEnd type="none"/>
            <a:tailEnd type="triangle"/>
          </a:ln>
        </p:spPr>
      </p:sp>
      <p:sp>
        <p:nvSpPr>
          <p:cNvPr id="29" name="Text 22"/>
          <p:cNvSpPr/>
          <p:nvPr/>
        </p:nvSpPr>
        <p:spPr>
          <a:xfrm>
            <a:off x="2926080" y="5742432"/>
            <a:ext cx="63276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Goal of the capital: prove that someone learned.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676656" y="658368"/>
            <a:ext cx="1024128" cy="310896"/>
          </a:xfrm>
          <a:prstGeom prst="roundRect">
            <a:avLst>
              <a:gd name="adj" fmla="val 17647"/>
            </a:avLst>
          </a:prstGeom>
          <a:solidFill>
            <a:srgbClr val="36D1C4">
              <a:alpha val="15000"/>
            </a:srgbClr>
          </a:solidFill>
          <a:ln w="7620">
            <a:solidFill>
              <a:srgbClr val="36D1C4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49808" y="70866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676656" y="112471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Closing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1874520"/>
            <a:ext cx="5212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question is not whether AI can explain. The question is whether we can prove that someone learned.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995160" y="1298448"/>
            <a:ext cx="4023360" cy="4023360"/>
          </a:xfrm>
          <a:prstGeom prst="ellipse">
            <a:avLst/>
          </a:prstGeom>
          <a:solidFill>
            <a:srgbClr val="36D1C4">
              <a:alpha val="5000"/>
            </a:srgbClr>
          </a:solidFill>
          <a:ln w="12700">
            <a:solidFill>
              <a:srgbClr val="36D1C4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339328" y="1252728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485632" y="1426464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814816" y="1362456"/>
            <a:ext cx="822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10195560" y="224028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341864" y="2414016"/>
            <a:ext cx="246888" cy="2468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71048" y="2350008"/>
            <a:ext cx="822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</a:t>
            </a:r>
            <a:endParaRPr lang="en-US" sz="1020" dirty="0"/>
          </a:p>
        </p:txBody>
      </p:sp>
      <p:sp>
        <p:nvSpPr>
          <p:cNvPr id="14" name="Shape 10"/>
          <p:cNvSpPr/>
          <p:nvPr/>
        </p:nvSpPr>
        <p:spPr>
          <a:xfrm>
            <a:off x="9765792" y="425196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12096" y="4425696"/>
            <a:ext cx="246888" cy="2468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241280" y="4361688"/>
            <a:ext cx="822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Teaching</a:t>
            </a:r>
            <a:endParaRPr lang="en-US" sz="1020" dirty="0"/>
          </a:p>
        </p:txBody>
      </p:sp>
      <p:sp>
        <p:nvSpPr>
          <p:cNvPr id="17" name="Shape 12"/>
          <p:cNvSpPr/>
          <p:nvPr/>
        </p:nvSpPr>
        <p:spPr>
          <a:xfrm>
            <a:off x="7516368" y="4709160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662672" y="4882896"/>
            <a:ext cx="246888" cy="24688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991856" y="4818888"/>
            <a:ext cx="822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020" dirty="0"/>
          </a:p>
        </p:txBody>
      </p:sp>
      <p:sp>
        <p:nvSpPr>
          <p:cNvPr id="20" name="Shape 14"/>
          <p:cNvSpPr/>
          <p:nvPr/>
        </p:nvSpPr>
        <p:spPr>
          <a:xfrm>
            <a:off x="6629400" y="2761488"/>
            <a:ext cx="1417320" cy="621792"/>
          </a:xfrm>
          <a:prstGeom prst="roundRect">
            <a:avLst>
              <a:gd name="adj" fmla="val 11765"/>
            </a:avLst>
          </a:prstGeom>
          <a:solidFill>
            <a:srgbClr val="132A3E"/>
          </a:solidFill>
          <a:ln w="1270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775704" y="2935224"/>
            <a:ext cx="246888" cy="2468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04888" y="2871216"/>
            <a:ext cx="822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F5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Adaptation</a:t>
            </a:r>
            <a:endParaRPr lang="en-US" sz="1020" dirty="0"/>
          </a:p>
        </p:txBody>
      </p:sp>
      <p:sp>
        <p:nvSpPr>
          <p:cNvPr id="23" name="Shape 16"/>
          <p:cNvSpPr/>
          <p:nvPr/>
        </p:nvSpPr>
        <p:spPr>
          <a:xfrm>
            <a:off x="9710928" y="1691640"/>
            <a:ext cx="484632" cy="548640"/>
          </a:xfrm>
          <a:prstGeom prst="line">
            <a:avLst/>
          </a:prstGeom>
          <a:noFill/>
          <a:ln w="14605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24" name="Shape 17"/>
          <p:cNvSpPr/>
          <p:nvPr/>
        </p:nvSpPr>
        <p:spPr>
          <a:xfrm>
            <a:off x="10561320" y="2880360"/>
            <a:ext cx="-521208" cy="1371600"/>
          </a:xfrm>
          <a:prstGeom prst="line">
            <a:avLst/>
          </a:prstGeom>
          <a:noFill/>
          <a:ln w="14605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25" name="Shape 18"/>
          <p:cNvSpPr/>
          <p:nvPr/>
        </p:nvSpPr>
        <p:spPr>
          <a:xfrm>
            <a:off x="9619488" y="4572000"/>
            <a:ext cx="-704088" cy="137160"/>
          </a:xfrm>
          <a:prstGeom prst="line">
            <a:avLst/>
          </a:prstGeom>
          <a:noFill/>
          <a:ln w="14605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26" name="Shape 19"/>
          <p:cNvSpPr/>
          <p:nvPr/>
        </p:nvSpPr>
        <p:spPr>
          <a:xfrm>
            <a:off x="7516368" y="4709160"/>
            <a:ext cx="-292608" cy="-1325880"/>
          </a:xfrm>
          <a:prstGeom prst="line">
            <a:avLst/>
          </a:prstGeom>
          <a:noFill/>
          <a:ln w="14605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7653528" y="2715768"/>
            <a:ext cx="685800" cy="-841248"/>
          </a:xfrm>
          <a:prstGeom prst="line">
            <a:avLst/>
          </a:prstGeom>
          <a:noFill/>
          <a:ln w="14605">
            <a:solidFill>
              <a:srgbClr val="36D1C4"/>
            </a:solidFill>
            <a:prstDash val="solid"/>
            <a:headEnd type="none"/>
            <a:tailEnd type="triangle"/>
          </a:ln>
        </p:spPr>
      </p:sp>
      <p:sp>
        <p:nvSpPr>
          <p:cNvPr id="28" name="Text 21"/>
          <p:cNvSpPr/>
          <p:nvPr/>
        </p:nvSpPr>
        <p:spPr>
          <a:xfrm>
            <a:off x="676656" y="4069080"/>
            <a:ext cx="5257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This is not a chatbot.</a:t>
            </a:r>
            <a:endParaRPr lang="en-US" sz="2500" dirty="0"/>
          </a:p>
          <a:p>
            <a:pPr indent="0" marL="0">
              <a:buNone/>
            </a:pPr>
            <a:r>
              <a:rPr lang="en-US" sz="2500" b="1" dirty="0">
                <a:solidFill>
                  <a:srgbClr val="85F3E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is infrastructure for learning.</a:t>
            </a:r>
            <a:endParaRPr lang="en-US" sz="2500" dirty="0"/>
          </a:p>
        </p:txBody>
      </p:sp>
      <p:sp>
        <p:nvSpPr>
          <p:cNvPr id="29" name="Shape 22"/>
          <p:cNvSpPr/>
          <p:nvPr/>
        </p:nvSpPr>
        <p:spPr>
          <a:xfrm>
            <a:off x="685800" y="5715000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5E8096">
              <a:alpha val="15000"/>
            </a:srgbClr>
          </a:solidFill>
          <a:ln w="7620">
            <a:solidFill>
              <a:srgbClr val="5E8096">
                <a:alpha val="70000"/>
              </a:srgbClr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758952" y="5765292"/>
            <a:ext cx="5120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Q&amp;A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3474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40" kern="0" dirty="0">
                <a:solidFill>
                  <a:srgbClr val="36D1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27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Frequently asked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0835640" y="429768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7708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58368" y="1307592"/>
            <a:ext cx="10698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A9B8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 answers to the questions investors are most likely to ask.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13232" y="1901952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2185416"/>
            <a:ext cx="283464" cy="2834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20482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multiple agents?</a:t>
            </a:r>
            <a:endParaRPr lang="en-US" sz="1340" dirty="0"/>
          </a:p>
        </p:txBody>
      </p:sp>
      <p:sp>
        <p:nvSpPr>
          <p:cNvPr id="9" name="Text 6"/>
          <p:cNvSpPr/>
          <p:nvPr/>
        </p:nvSpPr>
        <p:spPr>
          <a:xfrm>
            <a:off x="1371600" y="2404872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8C6"/>
                </a:solidFill>
              </a:rPr>
              <a:t>Teaching, grading, searching, and verifying have different incentives.</a:t>
            </a:r>
            <a:endParaRPr lang="en-US" sz="1030" dirty="0"/>
          </a:p>
        </p:txBody>
      </p:sp>
      <p:sp>
        <p:nvSpPr>
          <p:cNvPr id="10" name="Shape 7"/>
          <p:cNvSpPr/>
          <p:nvPr/>
        </p:nvSpPr>
        <p:spPr>
          <a:xfrm>
            <a:off x="6309360" y="1901952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0528" y="2185416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67728" y="204825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if the AI provider changes?</a:t>
            </a:r>
            <a:endParaRPr lang="en-US" sz="1340" dirty="0"/>
          </a:p>
        </p:txBody>
      </p:sp>
      <p:sp>
        <p:nvSpPr>
          <p:cNvPr id="13" name="Text 9"/>
          <p:cNvSpPr/>
          <p:nvPr/>
        </p:nvSpPr>
        <p:spPr>
          <a:xfrm>
            <a:off x="6967728" y="2404872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8C6"/>
                </a:solidFill>
              </a:rPr>
              <a:t>Pedagogy is separated from the model; the adapter can be replaced.</a:t>
            </a:r>
            <a:endParaRPr lang="en-US" sz="1030" dirty="0"/>
          </a:p>
        </p:txBody>
      </p:sp>
      <p:sp>
        <p:nvSpPr>
          <p:cNvPr id="14" name="Shape 10"/>
          <p:cNvSpPr/>
          <p:nvPr/>
        </p:nvSpPr>
        <p:spPr>
          <a:xfrm>
            <a:off x="713232" y="3227832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3511296"/>
            <a:ext cx="283464" cy="2834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3741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do we know learning happened?</a:t>
            </a:r>
            <a:endParaRPr lang="en-US" sz="1340" dirty="0"/>
          </a:p>
        </p:txBody>
      </p:sp>
      <p:sp>
        <p:nvSpPr>
          <p:cNvPr id="17" name="Text 12"/>
          <p:cNvSpPr/>
          <p:nvPr/>
        </p:nvSpPr>
        <p:spPr>
          <a:xfrm>
            <a:off x="1371600" y="3730752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8C6"/>
                </a:solidFill>
              </a:rPr>
              <a:t>Concept mastery, retention, transfer, and resolved gaps.</a:t>
            </a:r>
            <a:endParaRPr lang="en-US" sz="1030" dirty="0"/>
          </a:p>
        </p:txBody>
      </p:sp>
      <p:sp>
        <p:nvSpPr>
          <p:cNvPr id="18" name="Shape 13"/>
          <p:cNvSpPr/>
          <p:nvPr/>
        </p:nvSpPr>
        <p:spPr>
          <a:xfrm>
            <a:off x="6309360" y="3227832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0528" y="3511296"/>
            <a:ext cx="283464" cy="28346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67728" y="337413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it for children?</a:t>
            </a:r>
            <a:endParaRPr lang="en-US" sz="1340" dirty="0"/>
          </a:p>
        </p:txBody>
      </p:sp>
      <p:sp>
        <p:nvSpPr>
          <p:cNvPr id="21" name="Text 15"/>
          <p:cNvSpPr/>
          <p:nvPr/>
        </p:nvSpPr>
        <p:spPr>
          <a:xfrm>
            <a:off x="6967728" y="3730752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8C6"/>
                </a:solidFill>
              </a:rPr>
              <a:t>The architecture allows it, but launch requires age, consent, and stronger safeguards.</a:t>
            </a:r>
            <a:endParaRPr lang="en-US" sz="1030" dirty="0"/>
          </a:p>
        </p:txBody>
      </p:sp>
      <p:sp>
        <p:nvSpPr>
          <p:cNvPr id="22" name="Shape 16"/>
          <p:cNvSpPr/>
          <p:nvPr/>
        </p:nvSpPr>
        <p:spPr>
          <a:xfrm>
            <a:off x="713232" y="4553712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14400" y="4837176"/>
            <a:ext cx="283464" cy="2834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371600" y="47000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long does the MVP take?</a:t>
            </a:r>
            <a:endParaRPr lang="en-US" sz="1340" dirty="0"/>
          </a:p>
        </p:txBody>
      </p:sp>
      <p:sp>
        <p:nvSpPr>
          <p:cNvPr id="25" name="Text 18"/>
          <p:cNvSpPr/>
          <p:nvPr/>
        </p:nvSpPr>
        <p:spPr>
          <a:xfrm>
            <a:off x="1371600" y="5056632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8C6"/>
                </a:solidFill>
              </a:rPr>
              <a:t>It depends on domain and team; scope is already limited to the full learning loop.</a:t>
            </a:r>
            <a:endParaRPr lang="en-US" sz="1030" dirty="0"/>
          </a:p>
        </p:txBody>
      </p:sp>
      <p:sp>
        <p:nvSpPr>
          <p:cNvPr id="26" name="Shape 19"/>
          <p:cNvSpPr/>
          <p:nvPr/>
        </p:nvSpPr>
        <p:spPr>
          <a:xfrm>
            <a:off x="6309360" y="4553712"/>
            <a:ext cx="5166360" cy="1097280"/>
          </a:xfrm>
          <a:prstGeom prst="roundRect">
            <a:avLst>
              <a:gd name="adj" fmla="val 6667"/>
            </a:avLst>
          </a:prstGeom>
          <a:solidFill>
            <a:srgbClr val="0F2234"/>
          </a:solidFill>
          <a:ln w="11430">
            <a:solidFill>
              <a:srgbClr val="28455C">
                <a:alpha val="8800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10528" y="4837176"/>
            <a:ext cx="283464" cy="28346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67728" y="4700016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40" b="1" dirty="0">
                <a:solidFill>
                  <a:srgbClr val="F5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the first market?</a:t>
            </a:r>
            <a:endParaRPr lang="en-US" sz="1340" dirty="0"/>
          </a:p>
        </p:txBody>
      </p:sp>
      <p:sp>
        <p:nvSpPr>
          <p:cNvPr id="29" name="Text 21"/>
          <p:cNvSpPr/>
          <p:nvPr/>
        </p:nvSpPr>
        <p:spPr>
          <a:xfrm>
            <a:off x="6967728" y="5056632"/>
            <a:ext cx="41788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9B8C6"/>
                </a:solidFill>
              </a:rPr>
              <a:t>Still to be chosen: professional skills, coding, languages, or internal training.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73968" y="653796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6D8599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From chatbot to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A visual comparison of the problem and the opportunity</a:t>
            </a:r>
          </a:p>
        </p:txBody>
      </p:sp>
      <p:pic>
        <p:nvPicPr>
          <p:cNvPr id="6" name="Picture 5" descr="a_widescreen_dark_navy_black_futuristic_infograph_2_batch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Product 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An AI-guided tutoring experience</a:t>
            </a:r>
          </a:p>
        </p:txBody>
      </p:sp>
      <p:pic>
        <p:nvPicPr>
          <p:cNvPr id="6" name="Picture 5" descr="a_high_resolution_futuristic_ui_tech_illustration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Learning 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From goal to reinforcement, with continuous tracking</a:t>
            </a:r>
          </a:p>
        </p:txBody>
      </p:sp>
      <p:pic>
        <p:nvPicPr>
          <p:cNvPr id="6" name="Picture 5" descr="a_slick_futuristic_dark_navy_blue_neon_infograp_4_batch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Four teams, one tutor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Coordinate, teach, measure, and protect</a:t>
            </a:r>
          </a:p>
        </p:txBody>
      </p:sp>
      <p:pic>
        <p:nvPicPr>
          <p:cNvPr id="6" name="Picture 5" descr="a_sleek_futuristic_dark_navy_black_sci_fi_infogr_5_batch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Learning through connections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New knowledge builds on what the learner already knows</a:t>
            </a:r>
          </a:p>
        </p:txBody>
      </p:sp>
      <p:pic>
        <p:nvPicPr>
          <p:cNvPr id="6" name="Picture 5" descr="a_wide_cinematic_neon_blue_sci_fi_educational_i_6_batch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Structured memory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Three memory layers working as one system</a:t>
            </a:r>
          </a:p>
        </p:txBody>
      </p:sp>
      <p:pic>
        <p:nvPicPr>
          <p:cNvPr id="6" name="Picture 5" descr="a_high_tech_neon_glow_infographic_scene_on_a_dark_7_batch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Verified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Research, validate, and curate before teaching</a:t>
            </a:r>
          </a:p>
        </p:txBody>
      </p:sp>
      <p:pic>
        <p:nvPicPr>
          <p:cNvPr id="6" name="Picture 5" descr="a_high_tech_futuristic_infographic_concept_art_s_8_batch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5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914400" cy="25400"/>
          </a:xfrm>
          <a:prstGeom prst="rect">
            <a:avLst/>
          </a:prstGeom>
          <a:solidFill>
            <a:srgbClr val="54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6217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89E9FF"/>
                </a:solidFill>
              </a:rPr>
              <a:t>Decoupled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"/>
            <a:ext cx="6675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BCC2D6"/>
                </a:solidFill>
              </a:rPr>
              <a:t>A pedagogical core designed to evolve</a:t>
            </a:r>
          </a:p>
        </p:txBody>
      </p:sp>
      <p:pic>
        <p:nvPicPr>
          <p:cNvPr id="6" name="Picture 5" descr="a_sleek_high_tech_dark_navy_indigo_futuristic_u_9_batch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05840"/>
            <a:ext cx="11173968" cy="565099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829800" y="237744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BCC2D6"/>
                </a:solidFill>
              </a:rPr>
              <a:t>VISUAL CONTEXT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Expert Multi-Agent Tutor</dc:title>
  <dc:subject>Investor presentation: Expert Multi-Agent Tutor</dc:subject>
  <dc:creator>OpenAI</dc:creator>
  <cp:lastModifiedBy>OpenAI</cp:lastModifiedBy>
  <cp:revision>1</cp:revision>
  <dcterms:created xsi:type="dcterms:W3CDTF">2026-08-14T13:40:57Z</dcterms:created>
  <dcterms:modified xsi:type="dcterms:W3CDTF">2026-08-14T13:40:57Z</dcterms:modified>
</cp:coreProperties>
</file>