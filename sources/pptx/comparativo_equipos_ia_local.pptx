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EJECUTIVA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1143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Comparativo Ejecutivo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</a:rPr>
              <a:t>Equipos para Inteligencia Artificial Local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40487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4D8"/>
                </a:solidFill>
              </a:rPr>
              <a:t>Precios, capacidades de modelos, flujo de trabajo de desarrollador y explicación simple para cliente.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123444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195828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RTX 3050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56816" y="3127248"/>
            <a:ext cx="155448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20E6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3195828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E6A5"/>
                </a:solidFill>
              </a:rPr>
              <a:t>MAC MINI M4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0" y="3127248"/>
            <a:ext cx="173736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2D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319582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E2E6"/>
                </a:solidFill>
              </a:rPr>
              <a:t>RYZEN AI MAX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32120" y="3127248"/>
            <a:ext cx="192024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5272" y="31958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GB10 / DGX SPARK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66760" y="1234440"/>
            <a:ext cx="2971800" cy="3337560"/>
          </a:xfrm>
          <a:prstGeom prst="roundRect">
            <a:avLst>
              <a:gd name="adj" fmla="val 2462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41080" y="15361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Decisión central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18745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No todos los equipos sirven para lo mismo.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4108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B7C4D8"/>
                </a:solidFill>
              </a:rPr>
              <a:t>La elección depende del tamaño del modelo, privacidad, velocidad requerida y presupuesto.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641080" y="3675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128 GB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641080" y="40599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salto relevante para modelos grandes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94360" y="4617720"/>
            <a:ext cx="10744200" cy="1051560"/>
          </a:xfrm>
          <a:prstGeom prst="roundRect">
            <a:avLst>
              <a:gd name="adj" fmla="val 6957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3406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7B–8B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5212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pruebas locales básicas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675888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E6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32B–70B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675888" y="5212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IA local seria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492240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200B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492240" y="5212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workstation GB10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9144000" y="48280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405B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144000" y="5212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dos GB10 conectados*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94360" y="598932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*Capacidad reportada por NVIDIA/Acer para plataformas GB10 conectadas.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Qué comprar depende del nivel de IA que se quiere ejecutar localmente.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176272"/>
            <a:ext cx="123444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24485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D9FF"/>
                </a:solidFill>
              </a:rPr>
              <a:t>Entrada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95528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RTX 3050 / Mac M4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" y="32918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Pruebas, demos, automatizaciones ligeras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" y="4261104"/>
            <a:ext cx="201168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46227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B8AA5"/>
                </a:solidFill>
              </a:rPr>
              <a:t>Bajo costo, menor capacidad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2044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2176272"/>
            <a:ext cx="123444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00D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224485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0D9FF"/>
                </a:solidFill>
              </a:rPr>
              <a:t>Intermedio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721608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PC propio 64GB + RTX 3050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21608" y="32918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RAG, bases documentales, 8B con buen rendimiento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21608" y="4261104"/>
            <a:ext cx="201168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446227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B8AA5"/>
                </a:solidFill>
              </a:rPr>
              <a:t>Usa GPU pequeña; compensa con RAM y disco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29400" y="2176272"/>
            <a:ext cx="123444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20E6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224485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0E6A5"/>
                </a:solidFill>
              </a:rPr>
              <a:t>IA local seria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647688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BOSGAME M5 AI 128GB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47688" y="32918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Modelos 32B y 70B quantizados, prototipos grandes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47688" y="4261104"/>
            <a:ext cx="201168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446227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B8AA5"/>
                </a:solidFill>
              </a:rPr>
              <a:t>Mejor costo por GB de memoria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7260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55480" y="2176272"/>
            <a:ext cx="123444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8632" y="224485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855F7"/>
                </a:solidFill>
              </a:rPr>
              <a:t>Pro / Enterprise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9573768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DGX Spark / Acer / Dell GB10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73768" y="329184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200B inferencia, fine-tuning 70B, stack NVIDIA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573768" y="4261104"/>
            <a:ext cx="201168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73768" y="446227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B8AA5"/>
                </a:solidFill>
              </a:rPr>
              <a:t>Mayor inversión, mejor escalamiento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5532120"/>
            <a:ext cx="10789920" cy="530352"/>
          </a:xfrm>
          <a:prstGeom prst="roundRect">
            <a:avLst>
              <a:gd name="adj" fmla="val 1379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8680" y="568756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Recomendación rápida: conservar los equipos actuales para desarrollo y demos; sumar una estación 128 GB si se busca ejecutar modelos grandes sin depender de la nube.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EQUIPOS ACTUALES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 de partida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Los equipos existentes sirven para desarrollar, probar y operar flujos de IA local pequeños/medianos.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92024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Equipo actual 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560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4D8"/>
                </a:solidFill>
              </a:rPr>
              <a:t>Ryzen 5 5600X • 32 GB RAM • sistema 64 bits</a:t>
            </a:r>
            <a:endParaRPr lang="en-US" sz="1050" dirty="0"/>
          </a:p>
        </p:txBody>
      </p:sp>
      <p:pic>
        <p:nvPicPr>
          <p:cNvPr id="16" name="Image 0" descr="/mnt/data/96652917-2d4c-48b7-ac01-d8d664ad43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297" y="2907792"/>
            <a:ext cx="3351046" cy="822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39593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7C4D8"/>
                </a:solidFill>
              </a:rPr>
              <a:t>Uso recomendado: IDE, Docker liviano, automatizaciones, API, panel web y pruebas con IA en la nube o modelos pequeños.</a:t>
            </a:r>
            <a:endParaRPr lang="en-US" sz="1040" dirty="0"/>
          </a:p>
        </p:txBody>
      </p:sp>
      <p:sp>
        <p:nvSpPr>
          <p:cNvPr id="18" name="Shape 15"/>
          <p:cNvSpPr/>
          <p:nvPr/>
        </p:nvSpPr>
        <p:spPr>
          <a:xfrm>
            <a:off x="868680" y="4507992"/>
            <a:ext cx="141732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457657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FF"/>
                </a:solidFill>
              </a:rPr>
              <a:t>Desarrollo base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450592" y="4507992"/>
            <a:ext cx="205740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A855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23744" y="4576572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</a:rPr>
              <a:t>No ideal para modelos grandes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72200" y="192024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44652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Equipo actual 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46520" y="2560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C4D8"/>
                </a:solidFill>
              </a:rPr>
              <a:t>Ryzen 7 5700X • 64 GB RAM • RTX 3050 8 GB • 11.84 TB</a:t>
            </a:r>
            <a:endParaRPr lang="en-US" sz="1050" dirty="0"/>
          </a:p>
        </p:txBody>
      </p:sp>
      <p:pic>
        <p:nvPicPr>
          <p:cNvPr id="25" name="Image 1" descr="/mnt/data/11806615-fa6b-41ab-91f6-9209daa47c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398" y="2834640"/>
            <a:ext cx="4014803" cy="9601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446520" y="39593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B7C4D8"/>
                </a:solidFill>
              </a:rPr>
              <a:t>Uso recomendado: RAG con documentos, datasets locales, servidores de prueba y modelos 7B/8B en GPU.</a:t>
            </a:r>
            <a:endParaRPr lang="en-US" sz="1040" dirty="0"/>
          </a:p>
        </p:txBody>
      </p:sp>
      <p:sp>
        <p:nvSpPr>
          <p:cNvPr id="27" name="Shape 23"/>
          <p:cNvSpPr/>
          <p:nvPr/>
        </p:nvSpPr>
        <p:spPr>
          <a:xfrm>
            <a:off x="6446520" y="4507992"/>
            <a:ext cx="173736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20E6A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19672" y="457657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E6A5"/>
                </a:solidFill>
              </a:rPr>
              <a:t>RAG y almacenamiento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8375904" y="4507992"/>
            <a:ext cx="1417320" cy="283464"/>
          </a:xfrm>
          <a:prstGeom prst="roundRect">
            <a:avLst>
              <a:gd name="adj" fmla="val 25806"/>
            </a:avLst>
          </a:prstGeom>
          <a:solidFill>
            <a:srgbClr val="07162C">
              <a:alpha val="1000"/>
            </a:srgbClr>
          </a:solidFill>
          <a:ln w="11430">
            <a:solidFill>
              <a:srgbClr val="00D9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49056" y="457657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9FF"/>
                </a:solidFill>
              </a:rPr>
              <a:t>8B local cómodo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594360" y="5349240"/>
            <a:ext cx="10789920" cy="502920"/>
          </a:xfrm>
          <a:prstGeom prst="roundRect">
            <a:avLst>
              <a:gd name="adj" fmla="val 14545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23406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868680" y="550468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8FAFC"/>
                </a:solidFill>
              </a:rPr>
              <a:t>Lectura ejecutiva: estos equipos son útiles para crear producto, pero no reemplazan una estación IA 128 GB cuando el cliente exige privacidad + modelos grandes + respuesta rápida.</a:t>
            </a:r>
            <a:endParaRPr lang="en-US" sz="1020" dirty="0"/>
          </a:p>
        </p:txBody>
      </p:sp>
      <p:sp>
        <p:nvSpPr>
          <p:cNvPr id="33" name="Text 29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COMPARATIVO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Precios y capacidades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Valores referenciales. En Colombia pueden cambiar por importación, impuestos y disponibilidad.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828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D9FF"/>
                </a:solidFill>
              </a:rPr>
              <a:t>Equipo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2926080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D9FF"/>
                </a:solidFill>
              </a:rPr>
              <a:t>Memoria IA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D9FF"/>
                </a:solidFill>
              </a:rPr>
              <a:t>Disco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080760" y="1828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D9FF"/>
                </a:solidFill>
              </a:rPr>
              <a:t>USD aprox.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315200" y="1828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D9FF"/>
                </a:solidFill>
              </a:rPr>
              <a:t>COP aprox.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873252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0D9FF"/>
                </a:solidFill>
              </a:rPr>
              <a:t>Uso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94360" y="2148840"/>
            <a:ext cx="1042416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267712"/>
            <a:ext cx="10561320" cy="347472"/>
          </a:xfrm>
          <a:prstGeom prst="rect">
            <a:avLst/>
          </a:prstGeom>
          <a:solidFill>
            <a:srgbClr val="08142D">
              <a:alpha val="1000"/>
            </a:srgbClr>
          </a:solidFill>
          <a:ln w="12700">
            <a:solidFill>
              <a:srgbClr val="08142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331720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</a:rPr>
              <a:t>PC básico RTX 3050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2926080" y="233172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32 GB RAM / 8 GB VRAM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512 GB SSD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6080760" y="2331720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$850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7315200" y="23317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$2,7 M COP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8732520" y="233172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Entrada a IA local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594360" y="2770632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</a:rPr>
              <a:t>Mac mini M4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926080" y="277063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16 GB unificada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4754880" y="2770632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2 TB SSD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6080760" y="277063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$1,399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7315200" y="2770632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$4,4 M COP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8732520" y="27706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Dev + productividad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548640" y="3145536"/>
            <a:ext cx="10561320" cy="347472"/>
          </a:xfrm>
          <a:prstGeom prst="rect">
            <a:avLst/>
          </a:prstGeom>
          <a:solidFill>
            <a:srgbClr val="08142D">
              <a:alpha val="1000"/>
            </a:srgbClr>
          </a:solidFill>
          <a:ln w="12700">
            <a:solidFill>
              <a:srgbClr val="08142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20954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</a:rPr>
              <a:t>BOSGAME M5 AI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2926080" y="3209544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128 GB LPDDR5X</a:t>
            </a:r>
            <a:endParaRPr lang="en-US" sz="770" dirty="0"/>
          </a:p>
        </p:txBody>
      </p:sp>
      <p:sp>
        <p:nvSpPr>
          <p:cNvPr id="36" name="Text 34"/>
          <p:cNvSpPr/>
          <p:nvPr/>
        </p:nvSpPr>
        <p:spPr>
          <a:xfrm>
            <a:off x="4754880" y="3209544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2 TB SSD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6080760" y="320954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$2,999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7315200" y="3209544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$9,4 M COP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8732520" y="3209544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IA local seria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94360" y="3648456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</a:rPr>
              <a:t>Acer GN100 GB10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2926080" y="364845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128 GB unificada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4754880" y="3648456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hasta 4 TB</a:t>
            </a:r>
            <a:endParaRPr lang="en-US" sz="770" dirty="0"/>
          </a:p>
        </p:txBody>
      </p:sp>
      <p:sp>
        <p:nvSpPr>
          <p:cNvPr id="43" name="Text 41"/>
          <p:cNvSpPr/>
          <p:nvPr/>
        </p:nvSpPr>
        <p:spPr>
          <a:xfrm>
            <a:off x="6080760" y="364845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$3,999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7315200" y="364845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$12,6 M COP</a:t>
            </a:r>
            <a:endParaRPr lang="en-US" sz="770" dirty="0"/>
          </a:p>
        </p:txBody>
      </p:sp>
      <p:sp>
        <p:nvSpPr>
          <p:cNvPr id="45" name="Text 43"/>
          <p:cNvSpPr/>
          <p:nvPr/>
        </p:nvSpPr>
        <p:spPr>
          <a:xfrm>
            <a:off x="8732520" y="364845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Workstation IA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548640" y="4023360"/>
            <a:ext cx="10561320" cy="347472"/>
          </a:xfrm>
          <a:prstGeom prst="rect">
            <a:avLst/>
          </a:prstGeom>
          <a:solidFill>
            <a:srgbClr val="08142D">
              <a:alpha val="1000"/>
            </a:srgbClr>
          </a:solidFill>
          <a:ln w="12700">
            <a:solidFill>
              <a:srgbClr val="08142D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087368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</a:rPr>
              <a:t>NVIDIA DGX Spark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2926080" y="408736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128 GB unificada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4754880" y="4087368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4 TB NVMe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6080760" y="408736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$4,699</a:t>
            </a:r>
            <a:endParaRPr lang="en-US" sz="770" dirty="0"/>
          </a:p>
        </p:txBody>
      </p:sp>
      <p:sp>
        <p:nvSpPr>
          <p:cNvPr id="51" name="Text 49"/>
          <p:cNvSpPr/>
          <p:nvPr/>
        </p:nvSpPr>
        <p:spPr>
          <a:xfrm>
            <a:off x="7315200" y="408736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$14,8 M COP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8732520" y="4087368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IA pro / fine-tuning</a:t>
            </a:r>
            <a:endParaRPr lang="en-US" sz="770" dirty="0"/>
          </a:p>
        </p:txBody>
      </p:sp>
      <p:sp>
        <p:nvSpPr>
          <p:cNvPr id="53" name="Text 51"/>
          <p:cNvSpPr/>
          <p:nvPr/>
        </p:nvSpPr>
        <p:spPr>
          <a:xfrm>
            <a:off x="594360" y="4526280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8FAFC"/>
                </a:solidFill>
              </a:rPr>
              <a:t>Dell Pro Max GB10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2926080" y="452628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128 GB LPDDR5X</a:t>
            </a:r>
            <a:endParaRPr lang="en-US" sz="770" dirty="0"/>
          </a:p>
        </p:txBody>
      </p:sp>
      <p:sp>
        <p:nvSpPr>
          <p:cNvPr id="55" name="Text 53"/>
          <p:cNvSpPr/>
          <p:nvPr/>
        </p:nvSpPr>
        <p:spPr>
          <a:xfrm>
            <a:off x="4754880" y="4526280"/>
            <a:ext cx="1252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4 TB NVMe</a:t>
            </a:r>
            <a:endParaRPr lang="en-US" sz="770" dirty="0"/>
          </a:p>
        </p:txBody>
      </p:sp>
      <p:sp>
        <p:nvSpPr>
          <p:cNvPr id="56" name="Text 54"/>
          <p:cNvSpPr/>
          <p:nvPr/>
        </p:nvSpPr>
        <p:spPr>
          <a:xfrm>
            <a:off x="6080760" y="4526280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$6,331</a:t>
            </a:r>
            <a:endParaRPr lang="en-US" sz="770" dirty="0"/>
          </a:p>
        </p:txBody>
      </p:sp>
      <p:sp>
        <p:nvSpPr>
          <p:cNvPr id="57" name="Text 55"/>
          <p:cNvSpPr/>
          <p:nvPr/>
        </p:nvSpPr>
        <p:spPr>
          <a:xfrm>
            <a:off x="7315200" y="452628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$19,9 M COP</a:t>
            </a:r>
            <a:endParaRPr lang="en-US" sz="770" dirty="0"/>
          </a:p>
        </p:txBody>
      </p:sp>
      <p:sp>
        <p:nvSpPr>
          <p:cNvPr id="58" name="Text 56"/>
          <p:cNvSpPr/>
          <p:nvPr/>
        </p:nvSpPr>
        <p:spPr>
          <a:xfrm>
            <a:off x="8732520" y="4526280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7C4D8"/>
                </a:solidFill>
              </a:rPr>
              <a:t>Empresa + soporte</a:t>
            </a:r>
            <a:endParaRPr lang="en-US" sz="770" dirty="0"/>
          </a:p>
        </p:txBody>
      </p:sp>
      <p:sp>
        <p:nvSpPr>
          <p:cNvPr id="59" name="Shape 57"/>
          <p:cNvSpPr/>
          <p:nvPr/>
        </p:nvSpPr>
        <p:spPr>
          <a:xfrm>
            <a:off x="594360" y="5468112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68680" y="565099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C4D8"/>
                </a:solidFill>
              </a:rPr>
              <a:t>Nota: “Memoria IA” compara VRAM o memoria unificada útil para modelos locales. No es una métrica perfecta, pero ayuda a explicar el salto de 8/16 GB a 128 GB.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ESTADÍSTICA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estadística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La memoria disponible para IA es el factor que más limita el tamaño del modelo local.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874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Precio referencial USD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2677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PC básico RTX 3050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2971800" y="2286000"/>
            <a:ext cx="313075" cy="12801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26771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$850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777240" y="270662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Mac mini M4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2971800" y="2724912"/>
            <a:ext cx="515284" cy="12801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706624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$1,399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777240" y="314553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BOSGAME M5 AI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2971800" y="3163824"/>
            <a:ext cx="1104601" cy="128016"/>
          </a:xfrm>
          <a:prstGeom prst="rect">
            <a:avLst/>
          </a:prstGeom>
          <a:solidFill>
            <a:srgbClr val="20E6A5"/>
          </a:solidFill>
          <a:ln w="12700">
            <a:solidFill>
              <a:srgbClr val="20E6A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3145536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$2,999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777240" y="3584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Acer GN100 GB10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971800" y="3602736"/>
            <a:ext cx="1472923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358444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$3,999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77240" y="40233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NVIDIA DGX Spark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2971800" y="4041648"/>
            <a:ext cx="1730750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4023360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$4,699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77240" y="44622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Dell Pro Max GB10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971800" y="4480560"/>
            <a:ext cx="2331720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32120" y="4462272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$6,331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6355080" y="1810512"/>
            <a:ext cx="0" cy="3127248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18745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Memoria para IA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29400" y="226771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PC básico RTX 3050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8641080" y="2286000"/>
            <a:ext cx="117157" cy="12801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52760" y="226771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8 GB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6629400" y="270662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Mac mini M4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8641080" y="2724912"/>
            <a:ext cx="234315" cy="128016"/>
          </a:xfrm>
          <a:prstGeom prst="rect">
            <a:avLst/>
          </a:prstGeom>
          <a:solidFill>
            <a:srgbClr val="20E6A5"/>
          </a:solidFill>
          <a:ln w="12700">
            <a:solidFill>
              <a:srgbClr val="20E6A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52760" y="270662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16 GB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6629400" y="314553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BOSGAME M5 AI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8641080" y="3163824"/>
            <a:ext cx="1874520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52760" y="31455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128 GB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6629400" y="35844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Acer GN100 GB10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8641080" y="3602736"/>
            <a:ext cx="1874520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52760" y="358444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128 GB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629400" y="402336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NVIDIA DGX Spark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641080" y="4041648"/>
            <a:ext cx="1874520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52760" y="40233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128 GB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6629400" y="446227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B7C4D8"/>
                </a:solidFill>
              </a:rPr>
              <a:t>Dell Pro Max GB10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641080" y="4480560"/>
            <a:ext cx="1874520" cy="1280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52760" y="446227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F8FAFC"/>
                </a:solidFill>
              </a:rPr>
              <a:t>128 GB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77240" y="5230368"/>
            <a:ext cx="3063240" cy="713232"/>
          </a:xfrm>
          <a:prstGeom prst="roundRect">
            <a:avLst>
              <a:gd name="adj" fmla="val 10256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14400" y="53675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15x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14400" y="57515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más memoria IA: 128GB vs RTX 3050 8GB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4069080" y="5230368"/>
            <a:ext cx="3337560" cy="713232"/>
          </a:xfrm>
          <a:prstGeom prst="roundRect">
            <a:avLst>
              <a:gd name="adj" fmla="val 10256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206240" y="53675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E6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~$23/GB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4206240" y="57515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BOSGAME M5 128GB: mejor costo relativo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7635240" y="5230368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818120" y="5367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55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200B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7818120" y="5751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B7C4D8"/>
                </a:solidFill>
              </a:rPr>
              <a:t>capacidad oficial de inferencia en DGX Spark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594360" y="63550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Comparación simplificada para decisión ejecutiva; no sustituye benchmarks por tarea.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modelos podemos trabajar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Capacidad práctica por tamaño de modelo, usando quantización cuando aplica.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Sistema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7180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3B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7B / 8B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0644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14B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22376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32B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4108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70B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58400" y="1828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200B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2240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RTX 3050 8GB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35808" y="2203704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227228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453128" y="2203704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27228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870448" y="2203704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BBF24">
              <a:alpha val="8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227228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LIM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287768" y="2203704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227228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705088" y="2203704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227228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122408" y="2203704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22408" y="227228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0080" y="27249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Mac mini M4 16GB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35808" y="2688336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275691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453128" y="2688336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3128" y="275691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870448" y="2688336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BBF24">
              <a:alpha val="8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275691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LIM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287768" y="2688336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87768" y="275691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705088" y="2688336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05088" y="275691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122408" y="2688336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22408" y="2756916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40080" y="32095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PC Ryzen 7 + 64GB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035808" y="3172968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35808" y="324154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453128" y="3172968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53128" y="324154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870448" y="3172968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BBF24">
              <a:alpha val="8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0448" y="324154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LIM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287768" y="3172968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BBF24">
              <a:alpha val="8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87768" y="324154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LIM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705088" y="3172968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05088" y="324154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122408" y="3172968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22408" y="324154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0080" y="36941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BOSGAME M5 128GB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035808" y="3657600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35808" y="37261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453128" y="3657600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53128" y="37261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870448" y="3657600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70448" y="37261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287768" y="3657600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87768" y="37261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8705088" y="3657600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BBF24">
              <a:alpha val="85000"/>
            </a:srgbClr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05088" y="37261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LIM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0122408" y="3657600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F87171">
              <a:alpha val="85000"/>
            </a:srgbClr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122408" y="372618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NO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40080" y="4178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GB10 / DGX / Acer / Dell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035808" y="4142232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35808" y="4210812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453128" y="4142232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53128" y="4210812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870448" y="4142232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70448" y="4210812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287768" y="4142232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287768" y="4210812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705088" y="4142232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05088" y="4210812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122408" y="4142232"/>
            <a:ext cx="713232" cy="228600"/>
          </a:xfrm>
          <a:prstGeom prst="roundRect">
            <a:avLst>
              <a:gd name="adj" fmla="val 32000"/>
            </a:avLst>
          </a:prstGeom>
          <a:solidFill>
            <a:srgbClr val="20E6A5">
              <a:alpha val="85000"/>
            </a:srgbClr>
          </a:solidFill>
          <a:ln w="10160">
            <a:solidFill>
              <a:srgbClr val="20E6A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122408" y="4210812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FAFC"/>
                </a:solidFill>
              </a:rPr>
              <a:t>OK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40080" y="4892040"/>
            <a:ext cx="10835640" cy="804672"/>
          </a:xfrm>
          <a:prstGeom prst="roundRect">
            <a:avLst>
              <a:gd name="adj" fmla="val 9091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34064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868680" y="51023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</a:rPr>
              <a:t>Traducción simple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2606040" y="509320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8–16 GB sirven para aprender, construir y demostrar. 128 GB sirven para trabajar con modelos grandes y datos sensibles sin subir todo a la nube.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640080" y="6080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B8AA5"/>
                </a:solidFill>
              </a:rPr>
              <a:t>OK = recomendable • LIM = posible con limitaciones/offload/menor velocidad • NO = no recomendado.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DE TRABAJO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trabajo de desarrollador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Así se usa el ecosistema de equipos en un proyecto real de 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10312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22494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Diseñar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27797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4D8"/>
                </a:solidFill>
              </a:rPr>
              <a:t>Requisitos, datos, casos de uso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276856" y="2615184"/>
            <a:ext cx="192024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96312" y="210312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06040" y="22494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Desarrollar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7797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4D8"/>
                </a:solidFill>
              </a:rPr>
              <a:t>Código, API, UI, base de datos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178808" y="2615184"/>
            <a:ext cx="192024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98264" y="210312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07992" y="22494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E6A5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07992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Probar 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07992" y="27797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4D8"/>
                </a:solidFill>
              </a:rPr>
              <a:t>Modelo 7B/8B local o nube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080760" y="2615184"/>
            <a:ext cx="192024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0216" y="210312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9944" y="22494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E6A5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9944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RAG privado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9944" y="27797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4D8"/>
                </a:solidFill>
              </a:rPr>
              <a:t>Documentos, vectores, permisos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7982712" y="2615184"/>
            <a:ext cx="192024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202168" y="210312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11896" y="22494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11896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Escalar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11896" y="27797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4D8"/>
                </a:solidFill>
              </a:rPr>
              <a:t>32B/70B/200B en 128GB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9884664" y="2615184"/>
            <a:ext cx="192024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104120" y="210312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213848" y="22494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13848" y="2523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Entregar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213848" y="27797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C4D8"/>
                </a:solidFill>
              </a:rPr>
              <a:t>Demo, métricas y despliegue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1005840" y="40690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234440" y="43159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PC básico / Mac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234440" y="46451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desarrollo y demos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617720" y="40690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46320" y="43159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PC Ryzen 7 propio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46320" y="46451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RAG y pruebas internas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8229600" y="406908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458200" y="43159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BOSGAME / GB10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458200" y="464515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modelos grandes y cliente privado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1005840" y="562356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Mensaje para el cliente: primero construimos barato y rápido; después subimos de potencia solo cuando el caso de negocio lo justifica.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EXPLICACIÓN SIMPLE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explicarlo a un cliente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Una analogía sencilla evita hablarle al cliente en lenguaje técnico.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1874520"/>
            <a:ext cx="4892040" cy="1069848"/>
          </a:xfrm>
          <a:prstGeom prst="roundRect">
            <a:avLst>
              <a:gd name="adj" fmla="val 6838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2075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FF"/>
                </a:solidFill>
              </a:rPr>
              <a:t>Disco duro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2331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La bodega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54680" y="2185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4D8"/>
                </a:solidFill>
              </a:rPr>
              <a:t>Guarda documentos, modelos, bases de datos y evidencias.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55080" y="1874520"/>
            <a:ext cx="4892040" cy="1069848"/>
          </a:xfrm>
          <a:prstGeom prst="roundRect">
            <a:avLst>
              <a:gd name="adj" fmla="val 6838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56248" y="2075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RAM / VRAM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56248" y="2331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La mesa de trabajo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0" y="21854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4D8"/>
                </a:solidFill>
              </a:rPr>
              <a:t>Mientras más grande, más documentos y modelos caben abiertos al mismo tiempo.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3355848"/>
            <a:ext cx="4892040" cy="1069848"/>
          </a:xfrm>
          <a:prstGeom prst="roundRect">
            <a:avLst>
              <a:gd name="adj" fmla="val 6838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24128" y="3557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FF"/>
                </a:solidFill>
              </a:rPr>
              <a:t>GPU / NPU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24128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El equipo experto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154680" y="3666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4D8"/>
                </a:solidFill>
              </a:rPr>
              <a:t>Hace los cálculos pesados y acelera respuestas de IA.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55080" y="3355848"/>
            <a:ext cx="4892040" cy="1069848"/>
          </a:xfrm>
          <a:prstGeom prst="roundRect">
            <a:avLst>
              <a:gd name="adj" fmla="val 6838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56248" y="355701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Software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56248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El método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0" y="3666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C4D8"/>
                </a:solidFill>
              </a:rPr>
              <a:t>Ordena prompts, seguridad, permisos, RAG y medición.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5840" y="507492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234440" y="52852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E6A5"/>
                </a:solidFill>
              </a:rPr>
              <a:t>Ejemplo comercial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63240" y="5239512"/>
            <a:ext cx="7726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“Si el cliente solo necesita respuestas básicas, usamos un equipo pequeño. Si necesita documentos privados, modelos grandes y velocidad constante, usamos una estación de 128 GB.”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RECOMENDACIÓN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Escenarios de decisión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Seleccionar por presupuesto, privacidad y tamaño del modelo.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874520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203911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FF"/>
                </a:solidFill>
              </a:rPr>
              <a:t>Presupuesto bajo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46120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PC RTX 3050 o Mac mini M4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0299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Automatizaciones, demos, prototipos rápidos.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31520" y="2715768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00D9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2880360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9FF"/>
                </a:solidFill>
              </a:rPr>
              <a:t>Aprovechar lo existente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PC Ryzen 7 64GB + RTX 3050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87121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RAG, almacenamiento grande y pruebas de producto.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31520" y="3557016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372160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E6A5"/>
                </a:solidFill>
              </a:rPr>
              <a:t>Mejor salto costo/capacidad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3694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BOSGAME M5 AI 128GB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7124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Modelos grandes quantizados y trabajo local privado.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31520" y="4398264"/>
            <a:ext cx="10835640" cy="585216"/>
          </a:xfrm>
          <a:prstGeom prst="roundRect">
            <a:avLst>
              <a:gd name="adj" fmla="val 12500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0120" y="4562856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Cliente enterprise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46120" y="4535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DGX Spark / Acer / Dell GB10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5537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7C4D8"/>
                </a:solidFill>
              </a:rPr>
              <a:t>Stack NVIDIA, 200B inferencia y soporte empresarial.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914400" y="553212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08142D">
              <a:alpha val="1000"/>
            </a:srgbClr>
          </a:solidFill>
          <a:ln w="13970">
            <a:solidFill>
              <a:srgbClr val="20E6A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43000" y="5678424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8FAFC"/>
                </a:solidFill>
              </a:rPr>
              <a:t>Ruta recomendada: 1) usar equipos actuales para desarrollo; 2) comprar BOSGAME M5 si se requiere IA local grande; 3) pasar a GB10 cuando haya clientes enterprise o fine-tuning serio.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8"/>
          </a:solidFill>
          <a:ln w="12700">
            <a:solidFill>
              <a:srgbClr val="050A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7112B">
              <a:alpha val="90000"/>
            </a:srgbClr>
          </a:solidFill>
          <a:ln w="12700">
            <a:solidFill>
              <a:srgbClr val="07112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66928"/>
            <a:ext cx="11201400" cy="0"/>
          </a:xfrm>
          <a:prstGeom prst="line">
            <a:avLst/>
          </a:prstGeom>
          <a:noFill/>
          <a:ln w="12700">
            <a:solidFill>
              <a:srgbClr val="1D2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868680"/>
            <a:ext cx="0" cy="5212080"/>
          </a:xfrm>
          <a:prstGeom prst="line">
            <a:avLst/>
          </a:prstGeom>
          <a:noFill/>
          <a:ln w="12700">
            <a:solidFill>
              <a:srgbClr val="0E5B9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97312" y="1188720"/>
            <a:ext cx="0" cy="4663440"/>
          </a:xfrm>
          <a:prstGeom prst="line">
            <a:avLst/>
          </a:prstGeom>
          <a:noFill/>
          <a:ln w="12700">
            <a:solidFill>
              <a:srgbClr val="A855F7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LOCAL • WORKSTATION • DESARROLLO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0" y="1828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7B8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78638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y supuestos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1353312"/>
            <a:ext cx="4572000" cy="0"/>
          </a:xfrm>
          <a:prstGeom prst="line">
            <a:avLst/>
          </a:prstGeom>
          <a:noFill/>
          <a:ln w="1778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353312"/>
            <a:ext cx="1600200" cy="0"/>
          </a:xfrm>
          <a:prstGeom prst="line">
            <a:avLst/>
          </a:prstGeom>
          <a:noFill/>
          <a:ln w="1778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53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D8"/>
                </a:solidFill>
              </a:rPr>
              <a:t>Datos comerciales consultados en fuentes oficiales o tiendas referenciales.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7830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BOSGAME M5 AI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0" y="1783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bosgamepc.com/products/bosgame-m5-ai-mini-desktop-ryzen-ai-max-395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720840" y="1783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7C4D8"/>
                </a:solidFill>
              </a:rPr>
              <a:t>Ryzen AI Max+ 395, 128GB, 2TB, precio publicado USD 2,999.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77240" y="239572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NVIDIA DGX Spark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0" y="2395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marketplace.nvidia.com/.../personal-ai-supercomputers/dgx-spark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20840" y="2395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7C4D8"/>
                </a:solidFill>
              </a:rPr>
              <a:t>GB10, 1 PFLOP FP4, 128GB, 4TB, precio USD 4,699.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77240" y="30083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Acer Veriton GN100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0" y="30083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acer.com/us-en/desktops-and-all-in-ones/veriton-workstations/veriton-gn100-ai-mini-workstation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720840" y="30083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7C4D8"/>
                </a:solidFill>
              </a:rPr>
              <a:t>GB10, 128GB, hasta 4TB, 1 PFLOP; precio de anuncio desde USD 3,999.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7240" y="36210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Dell Pro Max GB10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0" y="36210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dell.com/.../dell-pro-max-with-gb10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20840" y="36210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7C4D8"/>
                </a:solidFill>
              </a:rPr>
              <a:t>128GB LPDDR5X, 4TB, precio web USD 6,330.64.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777240" y="4233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Apple Mac mini M4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0" y="42336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apple.com/co/mac-mini/specs/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720840" y="42336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7C4D8"/>
                </a:solidFill>
              </a:rPr>
              <a:t>M4, 16GB, configurable con SSD 2TB; precio 2TB estimado por configuración a validar.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77240" y="4846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Tasa de cambio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0" y="4846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wise.com / xe.com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20840" y="4846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7C4D8"/>
                </a:solidFill>
              </a:rPr>
              <a:t>Conversión aproximada usada: 1 USD ≈ 3,145.62 COP.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77240" y="5715000"/>
            <a:ext cx="10652760" cy="502920"/>
          </a:xfrm>
          <a:prstGeom prst="roundRect">
            <a:avLst>
              <a:gd name="adj" fmla="val 14545"/>
            </a:avLst>
          </a:prstGeom>
          <a:solidFill>
            <a:srgbClr val="07162C">
              <a:alpha val="1000"/>
            </a:srgbClr>
          </a:solidFill>
          <a:ln w="13970">
            <a:solidFill>
              <a:srgbClr val="A855F7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5861304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F8FAFC"/>
                </a:solidFill>
              </a:rPr>
              <a:t>Supuesto técnico: las capacidades no oficiales se estiman para modelos quantizados Q4/Q5 y pueden variar por framework, contexto, offload, temperatura y configuración.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9802368" y="6492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A5"/>
                </a:solidFill>
              </a:rPr>
              <a:t>Comparativo IA local  • 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Comparativo Ejecutivo | Equipos para IA Local</dc:title>
  <dc:subject>Comparativo ejecutivo de equipos para inteligencia artificial local</dc:subject>
  <dc:creator>OpenAI</dc:creator>
  <cp:lastModifiedBy>OpenAI</cp:lastModifiedBy>
  <cp:revision>1</cp:revision>
  <dcterms:created xsi:type="dcterms:W3CDTF">2026-08-14T17:47:30Z</dcterms:created>
  <dcterms:modified xsi:type="dcterms:W3CDTF">2026-08-14T17:47:30Z</dcterms:modified>
</cp:coreProperties>
</file>