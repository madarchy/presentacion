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Pérdida 4%</c:v>
                </c:pt>
              </c:strCache>
            </c:strRef>
          </c:tx>
          <c:spPr>
            <a:solidFill>
              <a:srgbClr val="FF5A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Pequeño</c:v>
                  </c:pt>
                  <c:pt idx="1">
                    <c:v>Mediano</c:v>
                  </c:pt>
                  <c:pt idx="2">
                    <c:v>Grande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48</c:v>
                </c:pt>
                <c:pt idx="2">
                  <c:v>120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Recuperar mitad</c:v>
                </c:pt>
              </c:strCache>
            </c:strRef>
          </c:tx>
          <c:spPr>
            <a:solidFill>
              <a:srgbClr val="16D1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Pequeño</c:v>
                  </c:pt>
                  <c:pt idx="1">
                    <c:v>Mediano</c:v>
                  </c:pt>
                  <c:pt idx="2">
                    <c:v>Grande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10</c:v>
                </c:pt>
                <c:pt idx="1">
                  <c:v>24</c:v>
                </c:pt>
                <c:pt idx="2">
                  <c:v>60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B7C6D6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0"/>
          <c:min val="0"/>
        </c:scaling>
        <c:delete val="0"/>
        <c:axPos val="l"/>
        <c:majorGridlines>
          <c:spPr>
            <a:ln w="12700" cap="flat">
              <a:solidFill>
                <a:srgbClr val="223B5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B7C6D6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F7FAFC"/>
              </a:solidFill>
              <a:latin typeface="Aptos"/>
              <a:cs typeface="Aptos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7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382512"/>
            <a:ext cx="10881360" cy="0"/>
          </a:xfrm>
          <a:prstGeom prst="line">
            <a:avLst/>
          </a:prstGeom>
          <a:noFill/>
          <a:ln w="12700">
            <a:solidFill>
              <a:srgbClr val="123755">
                <a:alpha val="6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64465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A3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ARCANA • Control operativo auditable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CA3B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CA3B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6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cinematic_high_tech_dashboard_visualization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F">
              <a:alpha val="82000"/>
            </a:srgbClr>
          </a:solidFill>
          <a:ln w="12700">
            <a:solidFill>
              <a:srgbClr val="07101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1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347472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7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PROPUESTA EJECUTIVA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9372600" y="34747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CA3B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DUEÑO DE RESTAURANTE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676656" y="1115568"/>
            <a:ext cx="3840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Arcana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694944" y="1874520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Contabilidad que no se puede mentir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713232" y="2697480"/>
            <a:ext cx="521208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B7C6D6"/>
                </a:solidFill>
              </a:rPr>
              <a:t>Para dueños que quieren demostrar lo comprado, cocinado y vendido sin vivir encima del local.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713232" y="3840480"/>
            <a:ext cx="1417320" cy="384048"/>
          </a:xfrm>
          <a:prstGeom prst="roundRect">
            <a:avLst>
              <a:gd name="adj" fmla="val 38095"/>
            </a:avLst>
          </a:prstGeom>
          <a:solidFill>
            <a:srgbClr val="00D7FF">
              <a:alpha val="14000"/>
            </a:srgbClr>
          </a:solidFill>
          <a:ln w="13970">
            <a:solidFill>
              <a:srgbClr val="00D7FF">
                <a:alpha val="95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6384" y="3941064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IoT firmado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331720" y="3840480"/>
            <a:ext cx="1691640" cy="384048"/>
          </a:xfrm>
          <a:prstGeom prst="roundRect">
            <a:avLst>
              <a:gd name="adj" fmla="val 38095"/>
            </a:avLst>
          </a:prstGeom>
          <a:solidFill>
            <a:srgbClr val="A855F7">
              <a:alpha val="14000"/>
            </a:srgbClr>
          </a:solidFill>
          <a:ln w="13970">
            <a:solidFill>
              <a:srgbClr val="A855F7">
                <a:alpha val="95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404872" y="3941064"/>
            <a:ext cx="1545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855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 auditable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224528" y="3840480"/>
            <a:ext cx="1325880" cy="384048"/>
          </a:xfrm>
          <a:prstGeom prst="roundRect">
            <a:avLst>
              <a:gd name="adj" fmla="val 38095"/>
            </a:avLst>
          </a:prstGeom>
          <a:solidFill>
            <a:srgbClr val="F4A328">
              <a:alpha val="14000"/>
            </a:srgbClr>
          </a:solidFill>
          <a:ln w="13970">
            <a:solidFill>
              <a:srgbClr val="F4A328">
                <a:alpha val="95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297680" y="3941064"/>
            <a:ext cx="1179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A3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Menos fuga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94944" y="4663440"/>
            <a:ext cx="4389120" cy="0"/>
          </a:xfrm>
          <a:prstGeom prst="line">
            <a:avLst/>
          </a:prstGeom>
          <a:noFill/>
          <a:ln w="16510">
            <a:solidFill>
              <a:srgbClr val="193B5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94944" y="4873752"/>
            <a:ext cx="539496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Mensaje central: Arcana no reemplaza el POS; lo ata a la realidad física del local.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CA3B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high_detail_cinematic_3d_digital_illustration_c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F">
              <a:alpha val="60000"/>
            </a:srgbClr>
          </a:solidFill>
          <a:ln w="12700">
            <a:solidFill>
              <a:srgbClr val="07101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1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347472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7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EL PROBLEMA DEL DUEÑO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9372600" y="34747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CA3B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IMPACTO ECONÓMICO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658368" y="749808"/>
            <a:ext cx="7498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dinero se escapa por goteo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658368" y="1536192"/>
            <a:ext cx="7040880" cy="0"/>
          </a:xfrm>
          <a:prstGeom prst="line">
            <a:avLst/>
          </a:prstGeom>
          <a:noFill/>
          <a:ln w="17780">
            <a:solidFill>
              <a:srgbClr val="00D7FF">
                <a:alpha val="95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761488" y="1536192"/>
            <a:ext cx="1554480" cy="0"/>
          </a:xfrm>
          <a:prstGeom prst="line">
            <a:avLst/>
          </a:prstGeom>
          <a:noFill/>
          <a:ln w="17780">
            <a:solidFill>
              <a:srgbClr val="A855F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1737360"/>
            <a:ext cx="74980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B7C6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restaurantes, una fuga pequeña sobre ventas puede destruir gran parte de la utilidad anual.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713232" y="2423160"/>
            <a:ext cx="2057400" cy="1060704"/>
          </a:xfrm>
          <a:prstGeom prst="roundRect">
            <a:avLst>
              <a:gd name="adj" fmla="val 10345"/>
            </a:avLst>
          </a:prstGeom>
          <a:solidFill>
            <a:srgbClr val="0B1729">
              <a:alpha val="98000"/>
            </a:srgbClr>
          </a:solidFill>
          <a:ln w="13970">
            <a:solidFill>
              <a:srgbClr val="16D19A">
                <a:alpha val="70000"/>
              </a:srgbClr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2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59536" y="2542032"/>
            <a:ext cx="1764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6D19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3–9%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859536" y="3017520"/>
            <a:ext cx="1764792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7C6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margen neto típico del sector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3017520" y="2423160"/>
            <a:ext cx="2240280" cy="1060704"/>
          </a:xfrm>
          <a:prstGeom prst="roundRect">
            <a:avLst>
              <a:gd name="adj" fmla="val 10345"/>
            </a:avLst>
          </a:prstGeom>
          <a:solidFill>
            <a:srgbClr val="0B1729">
              <a:alpha val="98000"/>
            </a:srgbClr>
          </a:solidFill>
          <a:ln w="13970">
            <a:solidFill>
              <a:srgbClr val="F4A328">
                <a:alpha val="70000"/>
              </a:srgbClr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163824" y="2542032"/>
            <a:ext cx="1947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4A3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4%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3163824" y="3017520"/>
            <a:ext cx="1947672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7C6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escenario conservador de fuga anual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532120" y="2423160"/>
            <a:ext cx="2331720" cy="1060704"/>
          </a:xfrm>
          <a:prstGeom prst="roundRect">
            <a:avLst>
              <a:gd name="adj" fmla="val 10345"/>
            </a:avLst>
          </a:prstGeom>
          <a:solidFill>
            <a:srgbClr val="0B1729">
              <a:alpha val="98000"/>
            </a:srgbClr>
          </a:solidFill>
          <a:ln w="13970">
            <a:solidFill>
              <a:srgbClr val="FF5A5F">
                <a:alpha val="70000"/>
              </a:srgbClr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2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678424" y="2542032"/>
            <a:ext cx="2039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5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$48k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5678424" y="3017520"/>
            <a:ext cx="2039112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7C6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pérdida anual estimada en un local mediano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713232" y="4041648"/>
            <a:ext cx="6263640" cy="1225296"/>
          </a:xfrm>
          <a:prstGeom prst="roundRect">
            <a:avLst>
              <a:gd name="adj" fmla="val 11940"/>
            </a:avLst>
          </a:prstGeom>
          <a:solidFill>
            <a:srgbClr val="0B1729">
              <a:alpha val="95000"/>
            </a:srgbClr>
          </a:solidFill>
          <a:ln w="13970">
            <a:solidFill>
              <a:srgbClr val="A855F7">
                <a:alpha val="7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4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987552" y="42976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855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 que debe responder Arcana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987552" y="4645152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“¿Puedo demostrar que lo comprado, cocinado y vendido realmente pasó?”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658368" y="6144768"/>
            <a:ext cx="10835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CA3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 de estimación: 4% de ventas. No es promesa de recuperación; sirve para dimensionar el dolor económico.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CA3B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cinematic_interior_scene_of_a_modern_resta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F">
              <a:alpha val="60000"/>
            </a:srgbClr>
          </a:solidFill>
          <a:ln w="12700">
            <a:solidFill>
              <a:srgbClr val="07101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1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347472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7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MAPA DEL DOLOR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9372600" y="34747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CA3B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OPERACIÓN + CAJA + DATOS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658368" y="676656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Dónde se rompe la verdad del local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658368" y="1463040"/>
            <a:ext cx="7315200" cy="0"/>
          </a:xfrm>
          <a:prstGeom prst="line">
            <a:avLst/>
          </a:prstGeom>
          <a:noFill/>
          <a:ln w="17780">
            <a:solidFill>
              <a:srgbClr val="00D7FF">
                <a:alpha val="95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761488" y="1463040"/>
            <a:ext cx="1554480" cy="0"/>
          </a:xfrm>
          <a:prstGeom prst="line">
            <a:avLst/>
          </a:prstGeom>
          <a:noFill/>
          <a:ln w="17780">
            <a:solidFill>
              <a:srgbClr val="A855F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1664208"/>
            <a:ext cx="77724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B7C6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POS registra tickets; Arcana busca cuadrar tickets con peso, cocina, caja y cierre.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713232" y="2359152"/>
            <a:ext cx="292608" cy="292608"/>
          </a:xfrm>
          <a:prstGeom prst="ellipse">
            <a:avLst/>
          </a:prstGeom>
          <a:solidFill>
            <a:srgbClr val="16D19A">
              <a:alpha val="92000"/>
            </a:srgbClr>
          </a:solidFill>
          <a:ln w="12700">
            <a:solidFill>
              <a:srgbClr val="16D19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52144" y="23134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7FAFC"/>
                </a:solidFill>
              </a:rPr>
              <a:t>Food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2432304" y="2322576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B7C6D6"/>
                </a:solidFill>
              </a:rPr>
              <a:t>Porciones, merma, comidas no registradas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713232" y="3017520"/>
            <a:ext cx="292608" cy="292608"/>
          </a:xfrm>
          <a:prstGeom prst="ellipse">
            <a:avLst/>
          </a:prstGeom>
          <a:solidFill>
            <a:srgbClr val="F4A328">
              <a:alpha val="92000"/>
            </a:srgbClr>
          </a:solidFill>
          <a:ln w="12700">
            <a:solidFill>
              <a:srgbClr val="F4A32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52144" y="297180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7FAFC"/>
                </a:solidFill>
              </a:rPr>
              <a:t>Cash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2432304" y="2980944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B7C6D6"/>
                </a:solidFill>
              </a:rPr>
              <a:t>Voids, caja floja, descuentos, re-ring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713232" y="3675888"/>
            <a:ext cx="292608" cy="292608"/>
          </a:xfrm>
          <a:prstGeom prst="ellipse">
            <a:avLst/>
          </a:prstGeom>
          <a:solidFill>
            <a:srgbClr val="00D7FF">
              <a:alpha val="92000"/>
            </a:srgbClr>
          </a:solidFill>
          <a:ln w="12700">
            <a:solidFill>
              <a:srgbClr val="00D7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52144" y="363016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7FAFC"/>
                </a:solidFill>
              </a:rPr>
              <a:t>Proveedor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2432304" y="3639312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B7C6D6"/>
                </a:solidFill>
              </a:rPr>
              <a:t>Entregas cortas o sustituciones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713232" y="4334256"/>
            <a:ext cx="292608" cy="292608"/>
          </a:xfrm>
          <a:prstGeom prst="ellipse">
            <a:avLst/>
          </a:prstGeom>
          <a:solidFill>
            <a:srgbClr val="A855F7">
              <a:alpha val="92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152144" y="428853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7FAFC"/>
                </a:solidFill>
              </a:rPr>
              <a:t>Datos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2432304" y="4297680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B7C6D6"/>
                </a:solidFill>
              </a:rPr>
              <a:t>Breach, phishing, reportes editables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713232" y="4992624"/>
            <a:ext cx="292608" cy="292608"/>
          </a:xfrm>
          <a:prstGeom prst="ellipse">
            <a:avLst/>
          </a:prstGeom>
          <a:solidFill>
            <a:srgbClr val="FF5A5F">
              <a:alpha val="92000"/>
            </a:srgbClr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152144" y="494690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7FAFC"/>
                </a:solidFill>
              </a:rPr>
              <a:t>Socios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2432304" y="4956048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B7C6D6"/>
                </a:solidFill>
              </a:rPr>
              <a:t>Confianza humana sin evidencia fuerte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7452360" y="2743200"/>
            <a:ext cx="3520440" cy="1691640"/>
          </a:xfrm>
          <a:prstGeom prst="roundRect">
            <a:avLst>
              <a:gd name="adj" fmla="val 8649"/>
            </a:avLst>
          </a:prstGeom>
          <a:solidFill>
            <a:srgbClr val="0B1729">
              <a:alpha val="91000"/>
            </a:srgbClr>
          </a:solidFill>
          <a:ln w="13970">
            <a:solidFill>
              <a:srgbClr val="00D7FF">
                <a:alpha val="7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4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7744968" y="30358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7FAFC"/>
                </a:solidFill>
              </a:rPr>
              <a:t>No es “más cámaras”</a:t>
            </a:r>
            <a:endParaRPr lang="en-US" sz="1900" dirty="0"/>
          </a:p>
        </p:txBody>
      </p:sp>
      <p:sp>
        <p:nvSpPr>
          <p:cNvPr id="28" name="Text 25"/>
          <p:cNvSpPr/>
          <p:nvPr/>
        </p:nvSpPr>
        <p:spPr>
          <a:xfrm>
            <a:off x="7744968" y="3493008"/>
            <a:ext cx="269748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40" dirty="0">
                <a:solidFill>
                  <a:srgbClr val="B7C6D6"/>
                </a:solidFill>
              </a:rPr>
              <a:t>Es diseño de control: lo físico y lo digital deben contar la misma historia.</a:t>
            </a:r>
            <a:endParaRPr lang="en-US" sz="15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CA3B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high_tech_futuristic_digital_illustration_infog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F">
              <a:alpha val="70000"/>
            </a:srgbClr>
          </a:solidFill>
          <a:ln w="12700">
            <a:solidFill>
              <a:srgbClr val="07101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1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347472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7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QUÉ ES ARCANA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9372600" y="34747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CA3B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SIN JERGA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658368" y="713232"/>
            <a:ext cx="7680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Las máquinas firman lo que vieron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658368" y="1499616"/>
            <a:ext cx="7223760" cy="0"/>
          </a:xfrm>
          <a:prstGeom prst="line">
            <a:avLst/>
          </a:prstGeom>
          <a:noFill/>
          <a:ln w="17780">
            <a:solidFill>
              <a:srgbClr val="00D7FF">
                <a:alpha val="95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761488" y="1499616"/>
            <a:ext cx="1554480" cy="0"/>
          </a:xfrm>
          <a:prstGeom prst="line">
            <a:avLst/>
          </a:prstGeom>
          <a:noFill/>
          <a:ln w="17780">
            <a:solidFill>
              <a:srgbClr val="A855F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1700784"/>
            <a:ext cx="76809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B7C6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Arcana conecta nevera, báscula, cocina y caja para dejar un cierre diario auditable.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804672" y="2240280"/>
            <a:ext cx="2423160" cy="841248"/>
          </a:xfrm>
          <a:prstGeom prst="roundRect">
            <a:avLst>
              <a:gd name="adj" fmla="val 17391"/>
            </a:avLst>
          </a:prstGeom>
          <a:solidFill>
            <a:srgbClr val="0B1729">
              <a:alpha val="92000"/>
            </a:srgbClr>
          </a:solidFill>
          <a:ln w="13970">
            <a:solidFill>
              <a:srgbClr val="00D7FF">
                <a:alpha val="7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1024128" y="239572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AFC"/>
                </a:solidFill>
              </a:rPr>
              <a:t>Nevera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024128" y="271576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B7C6D6"/>
                </a:solidFill>
              </a:rPr>
              <a:t>peso / temperatura</a:t>
            </a:r>
            <a:endParaRPr lang="en-US" sz="1120" dirty="0"/>
          </a:p>
        </p:txBody>
      </p:sp>
      <p:sp>
        <p:nvSpPr>
          <p:cNvPr id="14" name="Shape 11"/>
          <p:cNvSpPr/>
          <p:nvPr/>
        </p:nvSpPr>
        <p:spPr>
          <a:xfrm>
            <a:off x="3730752" y="2240280"/>
            <a:ext cx="2423160" cy="841248"/>
          </a:xfrm>
          <a:prstGeom prst="roundRect">
            <a:avLst>
              <a:gd name="adj" fmla="val 17391"/>
            </a:avLst>
          </a:prstGeom>
          <a:solidFill>
            <a:srgbClr val="0B1729">
              <a:alpha val="92000"/>
            </a:srgbClr>
          </a:solidFill>
          <a:ln w="13970">
            <a:solidFill>
              <a:srgbClr val="F4A328">
                <a:alpha val="7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4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950208" y="239572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AFC"/>
                </a:solidFill>
              </a:rPr>
              <a:t>Cocina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3950208" y="271576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B7C6D6"/>
                </a:solidFill>
              </a:rPr>
              <a:t>actividad / producción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04672" y="3383280"/>
            <a:ext cx="2423160" cy="841248"/>
          </a:xfrm>
          <a:prstGeom prst="roundRect">
            <a:avLst>
              <a:gd name="adj" fmla="val 17391"/>
            </a:avLst>
          </a:prstGeom>
          <a:solidFill>
            <a:srgbClr val="0B1729">
              <a:alpha val="92000"/>
            </a:srgbClr>
          </a:solidFill>
          <a:ln w="13970">
            <a:solidFill>
              <a:srgbClr val="16D19A">
                <a:alpha val="7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4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1024128" y="353872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AFC"/>
                </a:solidFill>
              </a:rPr>
              <a:t>POS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024128" y="385876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B7C6D6"/>
                </a:solidFill>
              </a:rPr>
              <a:t>ventas / voids</a:t>
            </a:r>
            <a:endParaRPr lang="en-US" sz="1120" dirty="0"/>
          </a:p>
        </p:txBody>
      </p:sp>
      <p:sp>
        <p:nvSpPr>
          <p:cNvPr id="20" name="Shape 17"/>
          <p:cNvSpPr/>
          <p:nvPr/>
        </p:nvSpPr>
        <p:spPr>
          <a:xfrm>
            <a:off x="3730752" y="3383280"/>
            <a:ext cx="2423160" cy="841248"/>
          </a:xfrm>
          <a:prstGeom prst="roundRect">
            <a:avLst>
              <a:gd name="adj" fmla="val 17391"/>
            </a:avLst>
          </a:prstGeom>
          <a:solidFill>
            <a:srgbClr val="0B1729">
              <a:alpha val="92000"/>
            </a:srgbClr>
          </a:solidFill>
          <a:ln w="13970">
            <a:solidFill>
              <a:srgbClr val="A855F7">
                <a:alpha val="7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4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3950208" y="353872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AFC"/>
                </a:solidFill>
              </a:rPr>
              <a:t>Caja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3950208" y="385876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B7C6D6"/>
                </a:solidFill>
              </a:rPr>
              <a:t>efectivo / cierre</a:t>
            </a:r>
            <a:endParaRPr lang="en-US" sz="1120" dirty="0"/>
          </a:p>
        </p:txBody>
      </p:sp>
      <p:sp>
        <p:nvSpPr>
          <p:cNvPr id="23" name="Shape 20"/>
          <p:cNvSpPr/>
          <p:nvPr/>
        </p:nvSpPr>
        <p:spPr>
          <a:xfrm>
            <a:off x="5760720" y="3246120"/>
            <a:ext cx="1024128" cy="0"/>
          </a:xfrm>
          <a:prstGeom prst="line">
            <a:avLst/>
          </a:prstGeom>
          <a:noFill/>
          <a:ln w="25400">
            <a:solidFill>
              <a:srgbClr val="00D7FF"/>
            </a:solidFill>
            <a:prstDash val="solid"/>
            <a:headEnd type="none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7040880" y="2423160"/>
            <a:ext cx="3429000" cy="1691640"/>
          </a:xfrm>
          <a:prstGeom prst="roundRect">
            <a:avLst>
              <a:gd name="adj" fmla="val 8649"/>
            </a:avLst>
          </a:prstGeom>
          <a:solidFill>
            <a:srgbClr val="0B1729">
              <a:alpha val="97000"/>
            </a:srgbClr>
          </a:solidFill>
          <a:ln w="13970">
            <a:solidFill>
              <a:srgbClr val="A855F7">
                <a:alpha val="7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4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7315200" y="27249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Cierre del día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7315200" y="3218688"/>
            <a:ext cx="269748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B7C6D6"/>
                </a:solidFill>
              </a:rPr>
              <a:t>Si alguien cambia un dato después, el sello ya no cuadra.</a:t>
            </a:r>
            <a:endParaRPr lang="en-US" sz="1550" dirty="0"/>
          </a:p>
        </p:txBody>
      </p:sp>
      <p:sp>
        <p:nvSpPr>
          <p:cNvPr id="27" name="Text 24"/>
          <p:cNvSpPr/>
          <p:nvPr/>
        </p:nvSpPr>
        <p:spPr>
          <a:xfrm>
            <a:off x="658368" y="6144768"/>
            <a:ext cx="10835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CA3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Promesa honesta: rastro correlacionado y firmado; no promete “imposible de hackear” ni reemplaza PCI/NIST.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CA3B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cinematic_high_tech_dashboard_visualization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F">
              <a:alpha val="45000"/>
            </a:srgbClr>
          </a:solidFill>
          <a:ln w="12700">
            <a:solidFill>
              <a:srgbClr val="07101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1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347472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7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UN DÍA CON ARCANA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9372600" y="34747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CA3B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FLUJO OPERATIVO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658368" y="676656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operación diaria a evidencia verificable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658368" y="1463040"/>
            <a:ext cx="7955280" cy="0"/>
          </a:xfrm>
          <a:prstGeom prst="line">
            <a:avLst/>
          </a:prstGeom>
          <a:noFill/>
          <a:ln w="17780">
            <a:solidFill>
              <a:srgbClr val="00D7FF">
                <a:alpha val="95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761488" y="1463040"/>
            <a:ext cx="1554480" cy="0"/>
          </a:xfrm>
          <a:prstGeom prst="line">
            <a:avLst/>
          </a:prstGeom>
          <a:noFill/>
          <a:ln w="17780">
            <a:solidFill>
              <a:srgbClr val="A855F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1664208"/>
            <a:ext cx="84124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B7C6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dueño no persigue cada movimiento; revisa excepciones y cierres firmados.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2697480" y="3319272"/>
            <a:ext cx="283464" cy="0"/>
          </a:xfrm>
          <a:prstGeom prst="line">
            <a:avLst/>
          </a:prstGeom>
          <a:noFill/>
          <a:ln w="20320">
            <a:solidFill>
              <a:srgbClr val="00D7FF">
                <a:alpha val="85000"/>
              </a:srgbClr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5010912" y="3319272"/>
            <a:ext cx="283464" cy="0"/>
          </a:xfrm>
          <a:prstGeom prst="line">
            <a:avLst/>
          </a:prstGeom>
          <a:noFill/>
          <a:ln w="20320">
            <a:solidFill>
              <a:srgbClr val="00D7FF">
                <a:alpha val="85000"/>
              </a:srgbClr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7324344" y="3319272"/>
            <a:ext cx="283464" cy="0"/>
          </a:xfrm>
          <a:prstGeom prst="line">
            <a:avLst/>
          </a:prstGeom>
          <a:noFill/>
          <a:ln w="20320">
            <a:solidFill>
              <a:srgbClr val="00D7FF">
                <a:alpha val="85000"/>
              </a:srgbClr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9637776" y="3319272"/>
            <a:ext cx="283464" cy="0"/>
          </a:xfrm>
          <a:prstGeom prst="line">
            <a:avLst/>
          </a:prstGeom>
          <a:noFill/>
          <a:ln w="20320">
            <a:solidFill>
              <a:srgbClr val="00D7FF">
                <a:alpha val="85000"/>
              </a:srgbClr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658368" y="2788920"/>
            <a:ext cx="2057400" cy="1078992"/>
          </a:xfrm>
          <a:prstGeom prst="roundRect">
            <a:avLst>
              <a:gd name="adj" fmla="val 13559"/>
            </a:avLst>
          </a:prstGeom>
          <a:solidFill>
            <a:srgbClr val="0B1729">
              <a:alpha val="98000"/>
            </a:srgbClr>
          </a:solidFill>
          <a:ln w="13970">
            <a:solidFill>
              <a:srgbClr val="16D19A">
                <a:alpha val="7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4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2960" y="2990088"/>
            <a:ext cx="566928" cy="566928"/>
          </a:xfrm>
          <a:prstGeom prst="ellipse">
            <a:avLst/>
          </a:prstGeom>
          <a:solidFill>
            <a:srgbClr val="16D19A">
              <a:alpha val="18000"/>
            </a:srgbClr>
          </a:solidFill>
          <a:ln w="13970">
            <a:solidFill>
              <a:srgbClr val="16D19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2960" y="314553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D19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527048" y="296265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7FAFC"/>
                </a:solidFill>
              </a:rPr>
              <a:t>Apertura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1527048" y="3291840"/>
            <a:ext cx="105156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7C6D6"/>
                </a:solidFill>
              </a:rPr>
              <a:t>Permiso vigente y reglas activas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2971800" y="2788920"/>
            <a:ext cx="2057400" cy="1078992"/>
          </a:xfrm>
          <a:prstGeom prst="roundRect">
            <a:avLst>
              <a:gd name="adj" fmla="val 13559"/>
            </a:avLst>
          </a:prstGeom>
          <a:solidFill>
            <a:srgbClr val="0B1729">
              <a:alpha val="98000"/>
            </a:srgbClr>
          </a:solidFill>
          <a:ln w="13970">
            <a:solidFill>
              <a:srgbClr val="00D7FF">
                <a:alpha val="7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4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136392" y="2990088"/>
            <a:ext cx="566928" cy="566928"/>
          </a:xfrm>
          <a:prstGeom prst="ellipse">
            <a:avLst/>
          </a:prstGeom>
          <a:solidFill>
            <a:srgbClr val="00D7FF">
              <a:alpha val="18000"/>
            </a:srgbClr>
          </a:solidFill>
          <a:ln w="13970">
            <a:solidFill>
              <a:srgbClr val="00D7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136392" y="314553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3840480" y="296265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7FAFC"/>
                </a:solidFill>
              </a:rPr>
              <a:t>Operar</a:t>
            </a:r>
            <a:endParaRPr lang="en-US" sz="1650" dirty="0"/>
          </a:p>
        </p:txBody>
      </p:sp>
      <p:sp>
        <p:nvSpPr>
          <p:cNvPr id="24" name="Text 21"/>
          <p:cNvSpPr/>
          <p:nvPr/>
        </p:nvSpPr>
        <p:spPr>
          <a:xfrm>
            <a:off x="3840480" y="3291840"/>
            <a:ext cx="105156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7C6D6"/>
                </a:solidFill>
              </a:rPr>
              <a:t>Pedidos, inventario, cocina y caja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5285232" y="2788920"/>
            <a:ext cx="2057400" cy="1078992"/>
          </a:xfrm>
          <a:prstGeom prst="roundRect">
            <a:avLst>
              <a:gd name="adj" fmla="val 13559"/>
            </a:avLst>
          </a:prstGeom>
          <a:solidFill>
            <a:srgbClr val="0B1729">
              <a:alpha val="98000"/>
            </a:srgbClr>
          </a:solidFill>
          <a:ln w="13970">
            <a:solidFill>
              <a:srgbClr val="A855F7">
                <a:alpha val="7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4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5449824" y="2990088"/>
            <a:ext cx="566928" cy="566928"/>
          </a:xfrm>
          <a:prstGeom prst="ellipse">
            <a:avLst/>
          </a:prstGeom>
          <a:solidFill>
            <a:srgbClr val="A855F7">
              <a:alpha val="18000"/>
            </a:srgbClr>
          </a:solidFill>
          <a:ln w="13970">
            <a:solidFill>
              <a:srgbClr val="A855F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449824" y="314553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855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153912" y="296265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7FAFC"/>
                </a:solidFill>
              </a:rPr>
              <a:t>Validar</a:t>
            </a:r>
            <a:endParaRPr lang="en-US" sz="1650" dirty="0"/>
          </a:p>
        </p:txBody>
      </p:sp>
      <p:sp>
        <p:nvSpPr>
          <p:cNvPr id="29" name="Text 26"/>
          <p:cNvSpPr/>
          <p:nvPr/>
        </p:nvSpPr>
        <p:spPr>
          <a:xfrm>
            <a:off x="6153912" y="3291840"/>
            <a:ext cx="105156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7C6D6"/>
                </a:solidFill>
              </a:rPr>
              <a:t>Los eventos deben coincidir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7598664" y="2788920"/>
            <a:ext cx="2057400" cy="1078992"/>
          </a:xfrm>
          <a:prstGeom prst="roundRect">
            <a:avLst>
              <a:gd name="adj" fmla="val 13559"/>
            </a:avLst>
          </a:prstGeom>
          <a:solidFill>
            <a:srgbClr val="0B1729">
              <a:alpha val="98000"/>
            </a:srgbClr>
          </a:solidFill>
          <a:ln w="13970">
            <a:solidFill>
              <a:srgbClr val="F4A328">
                <a:alpha val="7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4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7763256" y="2990088"/>
            <a:ext cx="566928" cy="566928"/>
          </a:xfrm>
          <a:prstGeom prst="ellipse">
            <a:avLst/>
          </a:prstGeom>
          <a:solidFill>
            <a:srgbClr val="F4A328">
              <a:alpha val="18000"/>
            </a:srgbClr>
          </a:solidFill>
          <a:ln w="13970">
            <a:solidFill>
              <a:srgbClr val="F4A32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763256" y="314553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A3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8467344" y="296265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7FAFC"/>
                </a:solidFill>
              </a:rPr>
              <a:t>Cierre</a:t>
            </a:r>
            <a:endParaRPr lang="en-US" sz="1650" dirty="0"/>
          </a:p>
        </p:txBody>
      </p:sp>
      <p:sp>
        <p:nvSpPr>
          <p:cNvPr id="34" name="Text 31"/>
          <p:cNvSpPr/>
          <p:nvPr/>
        </p:nvSpPr>
        <p:spPr>
          <a:xfrm>
            <a:off x="8467344" y="3291840"/>
            <a:ext cx="105156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7C6D6"/>
                </a:solidFill>
              </a:rPr>
              <a:t>Resumen firmado del día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9912096" y="2788920"/>
            <a:ext cx="2057400" cy="1078992"/>
          </a:xfrm>
          <a:prstGeom prst="roundRect">
            <a:avLst>
              <a:gd name="adj" fmla="val 13559"/>
            </a:avLst>
          </a:prstGeom>
          <a:solidFill>
            <a:srgbClr val="0B1729">
              <a:alpha val="98000"/>
            </a:srgbClr>
          </a:solidFill>
          <a:ln w="13970">
            <a:solidFill>
              <a:srgbClr val="16D19A">
                <a:alpha val="7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4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10076688" y="2990088"/>
            <a:ext cx="566928" cy="566928"/>
          </a:xfrm>
          <a:prstGeom prst="ellipse">
            <a:avLst/>
          </a:prstGeom>
          <a:solidFill>
            <a:srgbClr val="16D19A">
              <a:alpha val="18000"/>
            </a:srgbClr>
          </a:solidFill>
          <a:ln w="13970">
            <a:solidFill>
              <a:srgbClr val="16D19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0076688" y="314553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D19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10780776" y="296265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7FAFC"/>
                </a:solidFill>
              </a:rPr>
              <a:t>Auditar</a:t>
            </a:r>
            <a:endParaRPr lang="en-US" sz="1650" dirty="0"/>
          </a:p>
        </p:txBody>
      </p:sp>
      <p:sp>
        <p:nvSpPr>
          <p:cNvPr id="39" name="Text 36"/>
          <p:cNvSpPr/>
          <p:nvPr/>
        </p:nvSpPr>
        <p:spPr>
          <a:xfrm>
            <a:off x="10780776" y="3291840"/>
            <a:ext cx="105156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7C6D6"/>
                </a:solidFill>
              </a:rPr>
              <a:t>Socios revisan sin estar ahí</a:t>
            </a:r>
            <a:endParaRPr lang="en-US" sz="1150" dirty="0"/>
          </a:p>
        </p:txBody>
      </p:sp>
      <p:sp>
        <p:nvSpPr>
          <p:cNvPr id="40" name="Shape 37"/>
          <p:cNvSpPr/>
          <p:nvPr/>
        </p:nvSpPr>
        <p:spPr>
          <a:xfrm>
            <a:off x="2103120" y="4892040"/>
            <a:ext cx="8001000" cy="786384"/>
          </a:xfrm>
          <a:prstGeom prst="roundRect">
            <a:avLst>
              <a:gd name="adj" fmla="val 18605"/>
            </a:avLst>
          </a:prstGeom>
          <a:solidFill>
            <a:srgbClr val="0B1729">
              <a:alpha val="95000"/>
            </a:srgbClr>
          </a:solidFill>
          <a:ln w="13970">
            <a:solidFill>
              <a:srgbClr val="F4A328">
                <a:alpha val="7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4000"/>
              </a:srgbClr>
            </a:outerShdw>
          </a:effectLst>
        </p:spPr>
      </p:sp>
      <p:sp>
        <p:nvSpPr>
          <p:cNvPr id="41" name="Text 38"/>
          <p:cNvSpPr/>
          <p:nvPr/>
        </p:nvSpPr>
        <p:spPr>
          <a:xfrm>
            <a:off x="2404872" y="5120640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4A328"/>
                </a:solidFill>
              </a:rPr>
              <a:t>Override visible y limitado</a:t>
            </a:r>
            <a:endParaRPr lang="en-US" sz="1550" dirty="0"/>
          </a:p>
        </p:txBody>
      </p:sp>
      <p:sp>
        <p:nvSpPr>
          <p:cNvPr id="42" name="Text 39"/>
          <p:cNvSpPr/>
          <p:nvPr/>
        </p:nvSpPr>
        <p:spPr>
          <a:xfrm>
            <a:off x="4754880" y="510235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F7FAFC"/>
                </a:solidFill>
              </a:rPr>
              <a:t>Si falla la red, se puede operar; abusar del override dispara alerta.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CA3B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high_detail_cinematic_3d_digital_illustration_c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F">
              <a:alpha val="38000"/>
            </a:srgbClr>
          </a:solidFill>
          <a:ln w="12700">
            <a:solidFill>
              <a:srgbClr val="07101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1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347472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7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MODELO ECONÓMICO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9372600" y="34747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CA3B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PÉRDIDA VS. RECUPERACIÓN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658368" y="658368"/>
            <a:ext cx="7680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fuga se entiende mejor en dólares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658368" y="1444752"/>
            <a:ext cx="7223760" cy="0"/>
          </a:xfrm>
          <a:prstGeom prst="line">
            <a:avLst/>
          </a:prstGeom>
          <a:noFill/>
          <a:ln w="17780">
            <a:solidFill>
              <a:srgbClr val="00D7FF">
                <a:alpha val="95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761488" y="1444752"/>
            <a:ext cx="1554480" cy="0"/>
          </a:xfrm>
          <a:prstGeom prst="line">
            <a:avLst/>
          </a:prstGeom>
          <a:noFill/>
          <a:ln w="17780">
            <a:solidFill>
              <a:srgbClr val="A855F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1645920"/>
            <a:ext cx="76809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B7C6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reducción parcial puede ser más valiosa que vender un poco más.</a:t>
            </a:r>
            <a:endParaRPr lang="en-US" sz="155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713232" y="2240280"/>
          <a:ext cx="6492240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Shape 8"/>
          <p:cNvSpPr/>
          <p:nvPr/>
        </p:nvSpPr>
        <p:spPr>
          <a:xfrm>
            <a:off x="7680960" y="2304288"/>
            <a:ext cx="1417320" cy="1060704"/>
          </a:xfrm>
          <a:prstGeom prst="roundRect">
            <a:avLst>
              <a:gd name="adj" fmla="val 10345"/>
            </a:avLst>
          </a:prstGeom>
          <a:solidFill>
            <a:srgbClr val="0B1729">
              <a:alpha val="98000"/>
            </a:srgbClr>
          </a:solidFill>
          <a:ln w="13970">
            <a:solidFill>
              <a:srgbClr val="FF5A5F">
                <a:alpha val="70000"/>
              </a:srgbClr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22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7827264" y="2423160"/>
            <a:ext cx="11247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5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$20k</a:t>
            </a:r>
            <a:endParaRPr lang="en-US" sz="2600" dirty="0"/>
          </a:p>
        </p:txBody>
      </p:sp>
      <p:sp>
        <p:nvSpPr>
          <p:cNvPr id="14" name="Text 10"/>
          <p:cNvSpPr/>
          <p:nvPr/>
        </p:nvSpPr>
        <p:spPr>
          <a:xfrm>
            <a:off x="7827264" y="2898648"/>
            <a:ext cx="1124712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7C6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pérdida anual pequeña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9326880" y="2304288"/>
            <a:ext cx="1417320" cy="1060704"/>
          </a:xfrm>
          <a:prstGeom prst="roundRect">
            <a:avLst>
              <a:gd name="adj" fmla="val 10345"/>
            </a:avLst>
          </a:prstGeom>
          <a:solidFill>
            <a:srgbClr val="0B1729">
              <a:alpha val="98000"/>
            </a:srgbClr>
          </a:solidFill>
          <a:ln w="13970">
            <a:solidFill>
              <a:srgbClr val="FF5A5F">
                <a:alpha val="70000"/>
              </a:srgbClr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22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9473184" y="2423160"/>
            <a:ext cx="11247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5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$48k</a:t>
            </a:r>
            <a:endParaRPr lang="en-US" sz="2600" dirty="0"/>
          </a:p>
        </p:txBody>
      </p:sp>
      <p:sp>
        <p:nvSpPr>
          <p:cNvPr id="17" name="Text 13"/>
          <p:cNvSpPr/>
          <p:nvPr/>
        </p:nvSpPr>
        <p:spPr>
          <a:xfrm>
            <a:off x="9473184" y="2898648"/>
            <a:ext cx="1124712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7C6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pérdida anual mediana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7680960" y="3657600"/>
            <a:ext cx="3063240" cy="1060704"/>
          </a:xfrm>
          <a:prstGeom prst="roundRect">
            <a:avLst>
              <a:gd name="adj" fmla="val 10345"/>
            </a:avLst>
          </a:prstGeom>
          <a:solidFill>
            <a:srgbClr val="0B1729">
              <a:alpha val="98000"/>
            </a:srgbClr>
          </a:solidFill>
          <a:ln w="13970">
            <a:solidFill>
              <a:srgbClr val="FF5A5F">
                <a:alpha val="70000"/>
              </a:srgbClr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22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7827264" y="3776472"/>
            <a:ext cx="2770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5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$120k</a:t>
            </a:r>
            <a:endParaRPr lang="en-US" sz="2600" dirty="0"/>
          </a:p>
        </p:txBody>
      </p:sp>
      <p:sp>
        <p:nvSpPr>
          <p:cNvPr id="20" name="Text 16"/>
          <p:cNvSpPr/>
          <p:nvPr/>
        </p:nvSpPr>
        <p:spPr>
          <a:xfrm>
            <a:off x="7827264" y="4251960"/>
            <a:ext cx="2770632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7C6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pérdida anual grande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7680960" y="4919472"/>
            <a:ext cx="3063240" cy="713232"/>
          </a:xfrm>
          <a:prstGeom prst="roundRect">
            <a:avLst>
              <a:gd name="adj" fmla="val 20513"/>
            </a:avLst>
          </a:prstGeom>
          <a:solidFill>
            <a:srgbClr val="0B1729">
              <a:alpha val="94000"/>
            </a:srgbClr>
          </a:solidFill>
          <a:ln w="13970">
            <a:solidFill>
              <a:srgbClr val="16D19A">
                <a:alpha val="7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4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7936992" y="5111496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7FAFC"/>
                </a:solidFill>
              </a:rPr>
              <a:t>Lectura del dueño: la utilidad que se recupera ya estaba en las ventas.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658368" y="6144768"/>
            <a:ext cx="10835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CA3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Cifras en miles de USD/año: pequeños $500k ventas, medianos $1.2M, grandes $3M. Escenario conservador de pérdida del 4%.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CA3B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cinematic_interior_scene_of_a_modern_resta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F">
              <a:alpha val="48000"/>
            </a:srgbClr>
          </a:solidFill>
          <a:ln w="12700">
            <a:solidFill>
              <a:srgbClr val="07101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1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347472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7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ESTRATEGIA DE CONTROL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9372600" y="34747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CA3B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SECTOR + ARCANA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658368" y="658368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Arcana refuerza lo que el sector ya recomienda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658368" y="1444752"/>
            <a:ext cx="7955280" cy="0"/>
          </a:xfrm>
          <a:prstGeom prst="line">
            <a:avLst/>
          </a:prstGeom>
          <a:noFill/>
          <a:ln w="17780">
            <a:solidFill>
              <a:srgbClr val="00D7FF">
                <a:alpha val="95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761488" y="1444752"/>
            <a:ext cx="1554480" cy="0"/>
          </a:xfrm>
          <a:prstGeom prst="line">
            <a:avLst/>
          </a:prstGeom>
          <a:noFill/>
          <a:ln w="17780">
            <a:solidFill>
              <a:srgbClr val="A855F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1645920"/>
            <a:ext cx="84124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B7C6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sustituye cultura, POS ni caja segura: los vuelve verificables contra la operación física.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713232" y="2423160"/>
            <a:ext cx="2331720" cy="1874520"/>
          </a:xfrm>
          <a:prstGeom prst="roundRect">
            <a:avLst>
              <a:gd name="adj" fmla="val 7805"/>
            </a:avLst>
          </a:prstGeom>
          <a:solidFill>
            <a:srgbClr val="0B1729">
              <a:alpha val="94000"/>
            </a:srgbClr>
          </a:solidFill>
          <a:ln w="13970">
            <a:solidFill>
              <a:srgbClr val="16D19A">
                <a:alpha val="7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77824" y="2633472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D19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01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77824" y="29992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Accountability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877824" y="3456432"/>
            <a:ext cx="960120" cy="0"/>
          </a:xfrm>
          <a:prstGeom prst="line">
            <a:avLst/>
          </a:prstGeom>
          <a:noFill/>
          <a:ln w="16510">
            <a:solidFill>
              <a:srgbClr val="16D19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77824" y="3657600"/>
            <a:ext cx="184708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B7C6D6"/>
                </a:solidFill>
              </a:rPr>
              <a:t>Reglas claras; merma y cortesías declaradas.</a:t>
            </a:r>
            <a:endParaRPr lang="en-US" sz="1280" dirty="0"/>
          </a:p>
        </p:txBody>
      </p:sp>
      <p:sp>
        <p:nvSpPr>
          <p:cNvPr id="16" name="Shape 13"/>
          <p:cNvSpPr/>
          <p:nvPr/>
        </p:nvSpPr>
        <p:spPr>
          <a:xfrm>
            <a:off x="3483864" y="2423160"/>
            <a:ext cx="2331720" cy="1874520"/>
          </a:xfrm>
          <a:prstGeom prst="roundRect">
            <a:avLst>
              <a:gd name="adj" fmla="val 7805"/>
            </a:avLst>
          </a:prstGeom>
          <a:solidFill>
            <a:srgbClr val="0B1729">
              <a:alpha val="94000"/>
            </a:srgbClr>
          </a:solidFill>
          <a:ln w="13970">
            <a:solidFill>
              <a:srgbClr val="F4A328">
                <a:alpha val="7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4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3648456" y="2633472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A32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02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3648456" y="29992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Efectivo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3648456" y="3456432"/>
            <a:ext cx="960120" cy="0"/>
          </a:xfrm>
          <a:prstGeom prst="line">
            <a:avLst/>
          </a:prstGeom>
          <a:noFill/>
          <a:ln w="16510">
            <a:solidFill>
              <a:srgbClr val="F4A32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648456" y="3657600"/>
            <a:ext cx="184708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B7C6D6"/>
                </a:solidFill>
              </a:rPr>
              <a:t>Caja debe cuadrar con porciones y cocción.</a:t>
            </a:r>
            <a:endParaRPr lang="en-US" sz="1280" dirty="0"/>
          </a:p>
        </p:txBody>
      </p:sp>
      <p:sp>
        <p:nvSpPr>
          <p:cNvPr id="21" name="Shape 18"/>
          <p:cNvSpPr/>
          <p:nvPr/>
        </p:nvSpPr>
        <p:spPr>
          <a:xfrm>
            <a:off x="6254496" y="2423160"/>
            <a:ext cx="2331720" cy="1874520"/>
          </a:xfrm>
          <a:prstGeom prst="roundRect">
            <a:avLst>
              <a:gd name="adj" fmla="val 7805"/>
            </a:avLst>
          </a:prstGeom>
          <a:solidFill>
            <a:srgbClr val="0B1729">
              <a:alpha val="94000"/>
            </a:srgbClr>
          </a:solidFill>
          <a:ln w="13970">
            <a:solidFill>
              <a:srgbClr val="00D7FF">
                <a:alpha val="7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4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419088" y="2633472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7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03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419088" y="29992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Inventario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6419088" y="3456432"/>
            <a:ext cx="960120" cy="0"/>
          </a:xfrm>
          <a:prstGeom prst="line">
            <a:avLst/>
          </a:prstGeom>
          <a:noFill/>
          <a:ln w="16510">
            <a:solidFill>
              <a:srgbClr val="00D7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19088" y="3657600"/>
            <a:ext cx="184708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B7C6D6"/>
                </a:solidFill>
              </a:rPr>
              <a:t>Peso firmado + ventas: menos faltante invisible.</a:t>
            </a:r>
            <a:endParaRPr lang="en-US" sz="1280" dirty="0"/>
          </a:p>
        </p:txBody>
      </p:sp>
      <p:sp>
        <p:nvSpPr>
          <p:cNvPr id="26" name="Shape 23"/>
          <p:cNvSpPr/>
          <p:nvPr/>
        </p:nvSpPr>
        <p:spPr>
          <a:xfrm>
            <a:off x="9025128" y="2423160"/>
            <a:ext cx="2331720" cy="1874520"/>
          </a:xfrm>
          <a:prstGeom prst="roundRect">
            <a:avLst>
              <a:gd name="adj" fmla="val 7805"/>
            </a:avLst>
          </a:prstGeom>
          <a:solidFill>
            <a:srgbClr val="0B1729">
              <a:alpha val="94000"/>
            </a:srgbClr>
          </a:solidFill>
          <a:ln w="13970">
            <a:solidFill>
              <a:srgbClr val="A855F7">
                <a:alpha val="7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4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9189720" y="2633472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55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04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9189720" y="29992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9189720" y="3456432"/>
            <a:ext cx="960120" cy="0"/>
          </a:xfrm>
          <a:prstGeom prst="line">
            <a:avLst/>
          </a:prstGeom>
          <a:noFill/>
          <a:ln w="16510">
            <a:solidFill>
              <a:srgbClr val="A855F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189720" y="3657600"/>
            <a:ext cx="184708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B7C6D6"/>
                </a:solidFill>
              </a:rPr>
              <a:t>Voids y descuentos deben cuadrar con la física.</a:t>
            </a:r>
            <a:endParaRPr lang="en-US" sz="1280" dirty="0"/>
          </a:p>
        </p:txBody>
      </p:sp>
      <p:sp>
        <p:nvSpPr>
          <p:cNvPr id="31" name="Shape 28"/>
          <p:cNvSpPr/>
          <p:nvPr/>
        </p:nvSpPr>
        <p:spPr>
          <a:xfrm>
            <a:off x="2057400" y="4800600"/>
            <a:ext cx="8138160" cy="822960"/>
          </a:xfrm>
          <a:prstGeom prst="roundRect">
            <a:avLst>
              <a:gd name="adj" fmla="val 17778"/>
            </a:avLst>
          </a:prstGeom>
          <a:solidFill>
            <a:srgbClr val="0B1729">
              <a:alpha val="96000"/>
            </a:srgbClr>
          </a:solidFill>
          <a:ln w="13970">
            <a:solidFill>
              <a:srgbClr val="00D7FF">
                <a:alpha val="7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4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2359152" y="5038344"/>
            <a:ext cx="7452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10" b="1" dirty="0">
                <a:solidFill>
                  <a:srgbClr val="F7FAFC"/>
                </a:solidFill>
              </a:rPr>
              <a:t>Principio ejecutivo: mentir en un solo sistema ya no alcanza; POS, peso, cocina y caja deben contar la misma historia.</a:t>
            </a:r>
            <a:endParaRPr lang="en-US" sz="14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CA3B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high_tech_futuristic_digital_illustration_infog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F">
              <a:alpha val="52000"/>
            </a:srgbClr>
          </a:solidFill>
          <a:ln w="12700">
            <a:solidFill>
              <a:srgbClr val="07101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1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347472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7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PROMESA HONESTA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9372600" y="34747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CA3B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BENEFICIOS + LÍMITES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658368" y="658368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sí hace Arcana y qué no promete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658368" y="1444752"/>
            <a:ext cx="7680960" cy="0"/>
          </a:xfrm>
          <a:prstGeom prst="line">
            <a:avLst/>
          </a:prstGeom>
          <a:noFill/>
          <a:ln w="17780">
            <a:solidFill>
              <a:srgbClr val="00D7FF">
                <a:alpha val="95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761488" y="1444752"/>
            <a:ext cx="1554480" cy="0"/>
          </a:xfrm>
          <a:prstGeom prst="line">
            <a:avLst/>
          </a:prstGeom>
          <a:noFill/>
          <a:ln w="17780">
            <a:solidFill>
              <a:srgbClr val="A855F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1645920"/>
            <a:ext cx="81381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B7C6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confianza comercial aumenta cuando la promesa tecnológica es precisa.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777240" y="2286000"/>
            <a:ext cx="5074920" cy="2834640"/>
          </a:xfrm>
          <a:prstGeom prst="roundRect">
            <a:avLst>
              <a:gd name="adj" fmla="val 5161"/>
            </a:avLst>
          </a:prstGeom>
          <a:solidFill>
            <a:srgbClr val="0B1729">
              <a:alpha val="94000"/>
            </a:srgbClr>
          </a:solidFill>
          <a:ln w="13970">
            <a:solidFill>
              <a:srgbClr val="16D19A">
                <a:alpha val="7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1078992" y="257860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D19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SÍ garantiza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097280" y="30175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D19A"/>
                </a:solidFill>
              </a:rPr>
              <a:t>✓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389888" y="2999232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F7FAFC"/>
                </a:solidFill>
              </a:rPr>
              <a:t>Rastro correlacionado y firmado</a:t>
            </a:r>
            <a:endParaRPr lang="en-US" sz="1420" dirty="0"/>
          </a:p>
        </p:txBody>
      </p:sp>
      <p:sp>
        <p:nvSpPr>
          <p:cNvPr id="15" name="Text 12"/>
          <p:cNvSpPr/>
          <p:nvPr/>
        </p:nvSpPr>
        <p:spPr>
          <a:xfrm>
            <a:off x="1097280" y="341985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D19A"/>
                </a:solidFill>
              </a:rPr>
              <a:t>✓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389888" y="3401568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F7FAFC"/>
                </a:solidFill>
              </a:rPr>
              <a:t>Cierre diario auditable</a:t>
            </a:r>
            <a:endParaRPr lang="en-US" sz="1420" dirty="0"/>
          </a:p>
        </p:txBody>
      </p:sp>
      <p:sp>
        <p:nvSpPr>
          <p:cNvPr id="17" name="Text 14"/>
          <p:cNvSpPr/>
          <p:nvPr/>
        </p:nvSpPr>
        <p:spPr>
          <a:xfrm>
            <a:off x="1097280" y="382219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D19A"/>
                </a:solidFill>
              </a:rPr>
              <a:t>✓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389888" y="3803904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F7FAFC"/>
                </a:solidFill>
              </a:rPr>
              <a:t>Overrides visibles y acotados</a:t>
            </a:r>
            <a:endParaRPr lang="en-US" sz="1420" dirty="0"/>
          </a:p>
        </p:txBody>
      </p:sp>
      <p:sp>
        <p:nvSpPr>
          <p:cNvPr id="19" name="Text 16"/>
          <p:cNvSpPr/>
          <p:nvPr/>
        </p:nvSpPr>
        <p:spPr>
          <a:xfrm>
            <a:off x="1097280" y="422452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D19A"/>
                </a:solidFill>
              </a:rPr>
              <a:t>✓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389888" y="4206240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F7FAFC"/>
                </a:solidFill>
              </a:rPr>
              <a:t>Menos dependencia de Excel editable</a:t>
            </a:r>
            <a:endParaRPr lang="en-US" sz="1420" dirty="0"/>
          </a:p>
        </p:txBody>
      </p:sp>
      <p:sp>
        <p:nvSpPr>
          <p:cNvPr id="21" name="Shape 18"/>
          <p:cNvSpPr/>
          <p:nvPr/>
        </p:nvSpPr>
        <p:spPr>
          <a:xfrm>
            <a:off x="6355080" y="2286000"/>
            <a:ext cx="5074920" cy="2834640"/>
          </a:xfrm>
          <a:prstGeom prst="roundRect">
            <a:avLst>
              <a:gd name="adj" fmla="val 5161"/>
            </a:avLst>
          </a:prstGeom>
          <a:solidFill>
            <a:srgbClr val="0B1729">
              <a:alpha val="94000"/>
            </a:srgbClr>
          </a:solidFill>
          <a:ln w="13970">
            <a:solidFill>
              <a:srgbClr val="FF5A5F">
                <a:alpha val="7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4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656832" y="257860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5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promete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6675120" y="299923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5A5F"/>
                </a:solidFill>
              </a:rPr>
              <a:t>—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967728" y="2999232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F7FAFC"/>
                </a:solidFill>
              </a:rPr>
              <a:t>Hackeo imposible</a:t>
            </a:r>
            <a:endParaRPr lang="en-US" sz="1420" dirty="0"/>
          </a:p>
        </p:txBody>
      </p:sp>
      <p:sp>
        <p:nvSpPr>
          <p:cNvPr id="25" name="Text 22"/>
          <p:cNvSpPr/>
          <p:nvPr/>
        </p:nvSpPr>
        <p:spPr>
          <a:xfrm>
            <a:off x="6675120" y="340156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5A5F"/>
                </a:solidFill>
              </a:rPr>
              <a:t>—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967728" y="3401568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F7FAFC"/>
                </a:solidFill>
              </a:rPr>
              <a:t>Inocuidad alimentaria por sí sola</a:t>
            </a:r>
            <a:endParaRPr lang="en-US" sz="1420" dirty="0"/>
          </a:p>
        </p:txBody>
      </p:sp>
      <p:sp>
        <p:nvSpPr>
          <p:cNvPr id="27" name="Text 24"/>
          <p:cNvSpPr/>
          <p:nvPr/>
        </p:nvSpPr>
        <p:spPr>
          <a:xfrm>
            <a:off x="6675120" y="380390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5A5F"/>
                </a:solidFill>
              </a:rPr>
              <a:t>—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6967728" y="3803904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F7FAFC"/>
                </a:solidFill>
              </a:rPr>
              <a:t>Reemplazar PCI/NIST</a:t>
            </a:r>
            <a:endParaRPr lang="en-US" sz="1420" dirty="0"/>
          </a:p>
        </p:txBody>
      </p:sp>
      <p:sp>
        <p:nvSpPr>
          <p:cNvPr id="29" name="Text 26"/>
          <p:cNvSpPr/>
          <p:nvPr/>
        </p:nvSpPr>
        <p:spPr>
          <a:xfrm>
            <a:off x="6675120" y="42062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5A5F"/>
                </a:solidFill>
              </a:rPr>
              <a:t>—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6967728" y="4206240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F7FAFC"/>
                </a:solidFill>
              </a:rPr>
              <a:t>Eliminar gestión humana</a:t>
            </a:r>
            <a:endParaRPr lang="en-US" sz="1420" dirty="0"/>
          </a:p>
        </p:txBody>
      </p:sp>
      <p:sp>
        <p:nvSpPr>
          <p:cNvPr id="31" name="Shape 28"/>
          <p:cNvSpPr/>
          <p:nvPr/>
        </p:nvSpPr>
        <p:spPr>
          <a:xfrm>
            <a:off x="2651760" y="5440680"/>
            <a:ext cx="6949440" cy="603504"/>
          </a:xfrm>
          <a:prstGeom prst="roundRect">
            <a:avLst>
              <a:gd name="adj" fmla="val 24242"/>
            </a:avLst>
          </a:prstGeom>
          <a:solidFill>
            <a:srgbClr val="0B1729">
              <a:alpha val="93000"/>
            </a:srgbClr>
          </a:solidFill>
          <a:ln w="13970">
            <a:solidFill>
              <a:srgbClr val="A855F7">
                <a:alpha val="7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4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2907792" y="5614416"/>
            <a:ext cx="6446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80" b="1" dirty="0">
                <a:solidFill>
                  <a:srgbClr val="F7FAFC"/>
                </a:solidFill>
              </a:rPr>
              <a:t>La venta no es “crypto”. La venta es margen recuperable, prueba de operación y control para socios/inversores.</a:t>
            </a:r>
            <a:endParaRPr lang="en-US" sz="13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CA3B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cinematic_high_tech_dashboard_visualization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F">
              <a:alpha val="44000"/>
            </a:srgbClr>
          </a:solidFill>
          <a:ln w="12700">
            <a:solidFill>
              <a:srgbClr val="07101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1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347472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7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CLIENTE IDEAL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9372600" y="34747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CA3B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CHECKLIST DE DECISIÓN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658368" y="658368"/>
            <a:ext cx="8321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¿A qué dueño le beneficia primero?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658368" y="1444752"/>
            <a:ext cx="7863840" cy="0"/>
          </a:xfrm>
          <a:prstGeom prst="line">
            <a:avLst/>
          </a:prstGeom>
          <a:noFill/>
          <a:ln w="17780">
            <a:solidFill>
              <a:srgbClr val="00D7FF">
                <a:alpha val="95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761488" y="1444752"/>
            <a:ext cx="1554480" cy="0"/>
          </a:xfrm>
          <a:prstGeom prst="line">
            <a:avLst/>
          </a:prstGeom>
          <a:noFill/>
          <a:ln w="17780">
            <a:solidFill>
              <a:srgbClr val="A855F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1645920"/>
            <a:ext cx="83210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B7C6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marca tres o más, Arcana deja de ser tecnología “bonita” y se vuelve control financiero.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777240" y="2176272"/>
            <a:ext cx="4480560" cy="512064"/>
          </a:xfrm>
          <a:prstGeom prst="roundRect">
            <a:avLst>
              <a:gd name="adj" fmla="val 17857"/>
            </a:avLst>
          </a:prstGeom>
          <a:solidFill>
            <a:srgbClr val="0B1729">
              <a:alpha val="97000"/>
            </a:srgbClr>
          </a:solidFill>
          <a:ln w="10160">
            <a:solidFill>
              <a:srgbClr val="00D7FF">
                <a:alpha val="6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41832" y="228600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D7FF"/>
                </a:solidFill>
              </a:rPr>
              <a:t>□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280160" y="2295144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F7FAFC"/>
                </a:solidFill>
              </a:rPr>
              <a:t>Food cost o merma suben sin explicación clara</a:t>
            </a:r>
            <a:endParaRPr lang="en-US" sz="1270" dirty="0"/>
          </a:p>
        </p:txBody>
      </p:sp>
      <p:sp>
        <p:nvSpPr>
          <p:cNvPr id="14" name="Shape 11"/>
          <p:cNvSpPr/>
          <p:nvPr/>
        </p:nvSpPr>
        <p:spPr>
          <a:xfrm>
            <a:off x="777240" y="2962656"/>
            <a:ext cx="4480560" cy="512064"/>
          </a:xfrm>
          <a:prstGeom prst="roundRect">
            <a:avLst>
              <a:gd name="adj" fmla="val 17857"/>
            </a:avLst>
          </a:prstGeom>
          <a:solidFill>
            <a:srgbClr val="0B1729">
              <a:alpha val="97000"/>
            </a:srgbClr>
          </a:solidFill>
          <a:ln w="10160">
            <a:solidFill>
              <a:srgbClr val="A855F7">
                <a:alpha val="6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41832" y="307238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D7FF"/>
                </a:solidFill>
              </a:rPr>
              <a:t>□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1280160" y="3081528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F7FAFC"/>
                </a:solidFill>
              </a:rPr>
              <a:t>Cajones descuadrados, voids o tips fuera de rango</a:t>
            </a:r>
            <a:endParaRPr lang="en-US" sz="1270" dirty="0"/>
          </a:p>
        </p:txBody>
      </p:sp>
      <p:sp>
        <p:nvSpPr>
          <p:cNvPr id="17" name="Shape 14"/>
          <p:cNvSpPr/>
          <p:nvPr/>
        </p:nvSpPr>
        <p:spPr>
          <a:xfrm>
            <a:off x="777240" y="3749040"/>
            <a:ext cx="4480560" cy="512064"/>
          </a:xfrm>
          <a:prstGeom prst="roundRect">
            <a:avLst>
              <a:gd name="adj" fmla="val 17857"/>
            </a:avLst>
          </a:prstGeom>
          <a:solidFill>
            <a:srgbClr val="0B1729">
              <a:alpha val="97000"/>
            </a:srgbClr>
          </a:solidFill>
          <a:ln w="10160">
            <a:solidFill>
              <a:srgbClr val="00D7FF">
                <a:alpha val="6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41832" y="385876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D7FF"/>
                </a:solidFill>
              </a:rPr>
              <a:t>□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1280160" y="3867912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F7FAFC"/>
                </a:solidFill>
              </a:rPr>
              <a:t>Inventario no cuadra con ventas o proveedor entrega corto</a:t>
            </a:r>
            <a:endParaRPr lang="en-US" sz="1270" dirty="0"/>
          </a:p>
        </p:txBody>
      </p:sp>
      <p:sp>
        <p:nvSpPr>
          <p:cNvPr id="20" name="Shape 17"/>
          <p:cNvSpPr/>
          <p:nvPr/>
        </p:nvSpPr>
        <p:spPr>
          <a:xfrm>
            <a:off x="6217920" y="2176272"/>
            <a:ext cx="4480560" cy="512064"/>
          </a:xfrm>
          <a:prstGeom prst="roundRect">
            <a:avLst>
              <a:gd name="adj" fmla="val 17857"/>
            </a:avLst>
          </a:prstGeom>
          <a:solidFill>
            <a:srgbClr val="0B1729">
              <a:alpha val="97000"/>
            </a:srgbClr>
          </a:solidFill>
          <a:ln w="10160">
            <a:solidFill>
              <a:srgbClr val="A855F7">
                <a:alpha val="6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382512" y="228600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D7FF"/>
                </a:solidFill>
              </a:rPr>
              <a:t>□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720840" y="2295144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F7FAFC"/>
                </a:solidFill>
              </a:rPr>
              <a:t>Tiene socios o inversores remotos</a:t>
            </a:r>
            <a:endParaRPr lang="en-US" sz="1270" dirty="0"/>
          </a:p>
        </p:txBody>
      </p:sp>
      <p:sp>
        <p:nvSpPr>
          <p:cNvPr id="23" name="Shape 20"/>
          <p:cNvSpPr/>
          <p:nvPr/>
        </p:nvSpPr>
        <p:spPr>
          <a:xfrm>
            <a:off x="6217920" y="2962656"/>
            <a:ext cx="4480560" cy="512064"/>
          </a:xfrm>
          <a:prstGeom prst="roundRect">
            <a:avLst>
              <a:gd name="adj" fmla="val 17857"/>
            </a:avLst>
          </a:prstGeom>
          <a:solidFill>
            <a:srgbClr val="0B1729">
              <a:alpha val="97000"/>
            </a:srgbClr>
          </a:solidFill>
          <a:ln w="10160">
            <a:solidFill>
              <a:srgbClr val="00D7FF">
                <a:alpha val="60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382512" y="307238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D7FF"/>
                </a:solidFill>
              </a:rPr>
              <a:t>□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6720840" y="3081528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F7FAFC"/>
                </a:solidFill>
              </a:rPr>
              <a:t>Quiere cultura + SOPs, no solo más cámaras</a:t>
            </a:r>
            <a:endParaRPr lang="en-US" sz="1270" dirty="0"/>
          </a:p>
        </p:txBody>
      </p:sp>
      <p:sp>
        <p:nvSpPr>
          <p:cNvPr id="26" name="Shape 23"/>
          <p:cNvSpPr/>
          <p:nvPr/>
        </p:nvSpPr>
        <p:spPr>
          <a:xfrm>
            <a:off x="6217920" y="3749040"/>
            <a:ext cx="4480560" cy="512064"/>
          </a:xfrm>
          <a:prstGeom prst="roundRect">
            <a:avLst>
              <a:gd name="adj" fmla="val 17857"/>
            </a:avLst>
          </a:prstGeom>
          <a:solidFill>
            <a:srgbClr val="0B1729">
              <a:alpha val="97000"/>
            </a:srgbClr>
          </a:solidFill>
          <a:ln w="10160">
            <a:solidFill>
              <a:srgbClr val="A855F7">
                <a:alpha val="60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382512" y="385876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D7FF"/>
                </a:solidFill>
              </a:rPr>
              <a:t>□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6720840" y="3867912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F7FAFC"/>
                </a:solidFill>
              </a:rPr>
              <a:t>Acepta overrides visibles con límite</a:t>
            </a:r>
            <a:endParaRPr lang="en-US" sz="1270" dirty="0"/>
          </a:p>
        </p:txBody>
      </p:sp>
      <p:sp>
        <p:nvSpPr>
          <p:cNvPr id="29" name="Shape 26"/>
          <p:cNvSpPr/>
          <p:nvPr/>
        </p:nvSpPr>
        <p:spPr>
          <a:xfrm>
            <a:off x="2743200" y="4873752"/>
            <a:ext cx="6492240" cy="877824"/>
          </a:xfrm>
          <a:prstGeom prst="roundRect">
            <a:avLst>
              <a:gd name="adj" fmla="val 16667"/>
            </a:avLst>
          </a:prstGeom>
          <a:solidFill>
            <a:srgbClr val="0B1729">
              <a:alpha val="95000"/>
            </a:srgbClr>
          </a:solidFill>
          <a:ln w="13970">
            <a:solidFill>
              <a:srgbClr val="F4A328">
                <a:alpha val="7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4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3090672" y="5120640"/>
            <a:ext cx="5715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7FAFC"/>
                </a:solidFill>
              </a:rPr>
              <a:t>Regla simple: 3+ señales = piloto justificable con medición de fugas reales.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CA3B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cinematic_interior_scene_of_a_modern_resta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F">
              <a:alpha val="56000"/>
            </a:srgbClr>
          </a:solidFill>
          <a:ln w="12700">
            <a:solidFill>
              <a:srgbClr val="07101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1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347472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7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RUTA RECOMENDADA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9372600" y="34747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CA3B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PRÓXIMOS PASOS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658368" y="658368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diagnóstico a piloto medible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658368" y="1444752"/>
            <a:ext cx="7955280" cy="0"/>
          </a:xfrm>
          <a:prstGeom prst="line">
            <a:avLst/>
          </a:prstGeom>
          <a:noFill/>
          <a:ln w="17780">
            <a:solidFill>
              <a:srgbClr val="00D7FF">
                <a:alpha val="95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761488" y="1444752"/>
            <a:ext cx="1554480" cy="0"/>
          </a:xfrm>
          <a:prstGeom prst="line">
            <a:avLst/>
          </a:prstGeom>
          <a:noFill/>
          <a:ln w="17780">
            <a:solidFill>
              <a:srgbClr val="A855F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1645920"/>
            <a:ext cx="84124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B7C6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Arcana debe venderse como control operativo auditable, no como promesa tecnológica abstracta.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1965960" y="3611880"/>
            <a:ext cx="822960" cy="0"/>
          </a:xfrm>
          <a:prstGeom prst="line">
            <a:avLst/>
          </a:prstGeom>
          <a:noFill/>
          <a:ln w="17780">
            <a:solidFill>
              <a:srgbClr val="00D7FF">
                <a:alpha val="85000"/>
              </a:srgbClr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4709160" y="3611880"/>
            <a:ext cx="822960" cy="0"/>
          </a:xfrm>
          <a:prstGeom prst="line">
            <a:avLst/>
          </a:prstGeom>
          <a:noFill/>
          <a:ln w="17780">
            <a:solidFill>
              <a:srgbClr val="00D7FF">
                <a:alpha val="85000"/>
              </a:srgbClr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7452360" y="3611880"/>
            <a:ext cx="822960" cy="0"/>
          </a:xfrm>
          <a:prstGeom prst="line">
            <a:avLst/>
          </a:prstGeom>
          <a:noFill/>
          <a:ln w="17780">
            <a:solidFill>
              <a:srgbClr val="00D7FF">
                <a:alpha val="85000"/>
              </a:srgbClr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1115568" y="3090672"/>
            <a:ext cx="658368" cy="658368"/>
          </a:xfrm>
          <a:prstGeom prst="ellipse">
            <a:avLst/>
          </a:prstGeom>
          <a:solidFill>
            <a:srgbClr val="00D7FF">
              <a:alpha val="20000"/>
            </a:srgbClr>
          </a:solidFill>
          <a:ln w="15240">
            <a:solidFill>
              <a:srgbClr val="00D7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15568" y="328269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D7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01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713232" y="395935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7FAFC"/>
                </a:solidFill>
              </a:rPr>
              <a:t>Diagnóstico</a:t>
            </a:r>
            <a:endParaRPr lang="en-US" sz="1750" dirty="0"/>
          </a:p>
        </p:txBody>
      </p:sp>
      <p:sp>
        <p:nvSpPr>
          <p:cNvPr id="17" name="Text 14"/>
          <p:cNvSpPr/>
          <p:nvPr/>
        </p:nvSpPr>
        <p:spPr>
          <a:xfrm>
            <a:off x="713232" y="4343400"/>
            <a:ext cx="20574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70" dirty="0">
                <a:solidFill>
                  <a:srgbClr val="B7C6D6"/>
                </a:solidFill>
              </a:rPr>
              <a:t>Medir merma, voids, food cost y cierres actuales</a:t>
            </a:r>
            <a:endParaRPr lang="en-US" sz="1170" dirty="0"/>
          </a:p>
        </p:txBody>
      </p:sp>
      <p:sp>
        <p:nvSpPr>
          <p:cNvPr id="18" name="Shape 15"/>
          <p:cNvSpPr/>
          <p:nvPr/>
        </p:nvSpPr>
        <p:spPr>
          <a:xfrm>
            <a:off x="3858768" y="3090672"/>
            <a:ext cx="658368" cy="658368"/>
          </a:xfrm>
          <a:prstGeom prst="ellipse">
            <a:avLst/>
          </a:prstGeom>
          <a:solidFill>
            <a:srgbClr val="A855F7">
              <a:alpha val="20000"/>
            </a:srgbClr>
          </a:solidFill>
          <a:ln w="15240">
            <a:solidFill>
              <a:srgbClr val="A855F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858768" y="328269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A855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02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3456432" y="395935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7FAFC"/>
                </a:solidFill>
              </a:rPr>
              <a:t>Instrumentación</a:t>
            </a:r>
            <a:endParaRPr lang="en-US" sz="1750" dirty="0"/>
          </a:p>
        </p:txBody>
      </p:sp>
      <p:sp>
        <p:nvSpPr>
          <p:cNvPr id="21" name="Text 18"/>
          <p:cNvSpPr/>
          <p:nvPr/>
        </p:nvSpPr>
        <p:spPr>
          <a:xfrm>
            <a:off x="3456432" y="4343400"/>
            <a:ext cx="20574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70" dirty="0">
                <a:solidFill>
                  <a:srgbClr val="B7C6D6"/>
                </a:solidFill>
              </a:rPr>
              <a:t>Conectar puntos críticos: peso, nevera, cocina y caja</a:t>
            </a:r>
            <a:endParaRPr lang="en-US" sz="1170" dirty="0"/>
          </a:p>
        </p:txBody>
      </p:sp>
      <p:sp>
        <p:nvSpPr>
          <p:cNvPr id="22" name="Shape 19"/>
          <p:cNvSpPr/>
          <p:nvPr/>
        </p:nvSpPr>
        <p:spPr>
          <a:xfrm>
            <a:off x="6601968" y="3090672"/>
            <a:ext cx="658368" cy="658368"/>
          </a:xfrm>
          <a:prstGeom prst="ellipse">
            <a:avLst/>
          </a:prstGeom>
          <a:solidFill>
            <a:srgbClr val="F4A328">
              <a:alpha val="20000"/>
            </a:srgbClr>
          </a:solidFill>
          <a:ln w="15240">
            <a:solidFill>
              <a:srgbClr val="F4A32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601968" y="328269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A32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03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6199632" y="395935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7FAFC"/>
                </a:solidFill>
              </a:rPr>
              <a:t>Piloto</a:t>
            </a:r>
            <a:endParaRPr lang="en-US" sz="1750" dirty="0"/>
          </a:p>
        </p:txBody>
      </p:sp>
      <p:sp>
        <p:nvSpPr>
          <p:cNvPr id="25" name="Text 22"/>
          <p:cNvSpPr/>
          <p:nvPr/>
        </p:nvSpPr>
        <p:spPr>
          <a:xfrm>
            <a:off x="6199632" y="4343400"/>
            <a:ext cx="20574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70" dirty="0">
                <a:solidFill>
                  <a:srgbClr val="B7C6D6"/>
                </a:solidFill>
              </a:rPr>
              <a:t>Comparar teórico vs. real durante 30–60 días</a:t>
            </a:r>
            <a:endParaRPr lang="en-US" sz="1170" dirty="0"/>
          </a:p>
        </p:txBody>
      </p:sp>
      <p:sp>
        <p:nvSpPr>
          <p:cNvPr id="26" name="Shape 23"/>
          <p:cNvSpPr/>
          <p:nvPr/>
        </p:nvSpPr>
        <p:spPr>
          <a:xfrm>
            <a:off x="9345168" y="3090672"/>
            <a:ext cx="658368" cy="658368"/>
          </a:xfrm>
          <a:prstGeom prst="ellipse">
            <a:avLst/>
          </a:prstGeom>
          <a:solidFill>
            <a:srgbClr val="16D19A">
              <a:alpha val="20000"/>
            </a:srgbClr>
          </a:solidFill>
          <a:ln w="15240">
            <a:solidFill>
              <a:srgbClr val="16D19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345168" y="328269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D19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04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8942832" y="395935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7FAFC"/>
                </a:solidFill>
              </a:rPr>
              <a:t>Decisión</a:t>
            </a:r>
            <a:endParaRPr lang="en-US" sz="1750" dirty="0"/>
          </a:p>
        </p:txBody>
      </p:sp>
      <p:sp>
        <p:nvSpPr>
          <p:cNvPr id="29" name="Text 26"/>
          <p:cNvSpPr/>
          <p:nvPr/>
        </p:nvSpPr>
        <p:spPr>
          <a:xfrm>
            <a:off x="8942832" y="4343400"/>
            <a:ext cx="20574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70" dirty="0">
                <a:solidFill>
                  <a:srgbClr val="B7C6D6"/>
                </a:solidFill>
              </a:rPr>
              <a:t>Escalar si recupera margen o mejora evidencia ante socios</a:t>
            </a:r>
            <a:endParaRPr lang="en-US" sz="1170" dirty="0"/>
          </a:p>
        </p:txBody>
      </p:sp>
      <p:sp>
        <p:nvSpPr>
          <p:cNvPr id="30" name="Shape 27"/>
          <p:cNvSpPr/>
          <p:nvPr/>
        </p:nvSpPr>
        <p:spPr>
          <a:xfrm>
            <a:off x="1920240" y="5349240"/>
            <a:ext cx="8321040" cy="658368"/>
          </a:xfrm>
          <a:prstGeom prst="roundRect">
            <a:avLst>
              <a:gd name="adj" fmla="val 22222"/>
            </a:avLst>
          </a:prstGeom>
          <a:solidFill>
            <a:srgbClr val="0B1729">
              <a:alpha val="95000"/>
            </a:srgbClr>
          </a:solidFill>
          <a:ln w="13970">
            <a:solidFill>
              <a:srgbClr val="16D19A">
                <a:alpha val="7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4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2240280" y="5541264"/>
            <a:ext cx="7635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30" b="1" dirty="0">
                <a:solidFill>
                  <a:srgbClr val="F7FAFC"/>
                </a:solidFill>
              </a:rPr>
              <a:t>Cierre ejecutivo: el dueño deja de pedir que le crean; empieza a poder demostrar.</a:t>
            </a:r>
            <a:endParaRPr lang="en-US" sz="15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CA3B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Arcana | Presentación Ejecutiva</dc:title>
  <dc:subject>Arcana - Beneficio para dueño de restaurante</dc:subject>
  <dc:creator>OpenAI</dc:creator>
  <cp:lastModifiedBy>OpenAI</cp:lastModifiedBy>
  <cp:revision>1</cp:revision>
  <dcterms:created xsi:type="dcterms:W3CDTF">2026-08-21T13:44:45Z</dcterms:created>
  <dcterms:modified xsi:type="dcterms:W3CDTF">2026-08-21T13:44:45Z</dcterms:modified>
</cp:coreProperties>
</file>