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557784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822960"/>
            <a:ext cx="2331720" cy="320040"/>
          </a:xfrm>
          <a:prstGeom prst="round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86968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 i="0">
                <a:solidFill>
                  <a:srgbClr val="C4CCD8"/>
                </a:solidFill>
                <a:latin typeface="Aptos"/>
              </a:rPr>
              <a:t>INVESTOR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983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Arcana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CC7E"/>
                </a:solidFill>
                <a:latin typeface="Aptos"/>
              </a:rPr>
              <a:t>Accounting that cannot be lied about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 trust network for franchises and remote investors.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Signed IoT inside the store.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Auditable daily close.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Settlement on Polygon backed by USDC.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Verifiable trust, not blind trust</a:t>
            </a:r>
          </a:p>
        </p:txBody>
      </p:sp>
      <p:sp>
        <p:nvSpPr>
          <p:cNvPr id="12" name="Oval 11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problem in one sentence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investor does not see the store. The manager does.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Underreported sales.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Inventory that “disappears”.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Suppliers delivering less than agreed.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Margins that do not match what was served.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Reports editable in Excel or POS.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cost of not knowing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When physical evidence is not correlated, everyone loses.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05740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Who loses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How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Investor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Receives a % of an inflated number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Franchise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Damaged brand and auditability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Honest owner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Cannot prove good operations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Cold chain and portions lack a useful trace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Today trust is human. Tomorrow it must be verifiable.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investment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Arcana turns each location into an accounting book signed by machines.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F4F1EA"/>
                </a:solidFill>
              </a:defRPr>
            </a:pPr>
            <a:r>
              <a:t>What is bought, cooked, and sold leaves a physical trace.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F4F1EA"/>
                </a:solidFill>
              </a:defRPr>
            </a:pPr>
            <a:r>
              <a:t>Multiple independent devices must agree.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F4F1EA"/>
                </a:solidFill>
              </a:defRPr>
            </a:pPr>
            <a:r>
              <a:t>At daily close, that truth is anchored on Polygon.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500">
                <a:solidFill>
                  <a:srgbClr val="F4F1EA"/>
                </a:solidFill>
              </a:defRPr>
            </a:pPr>
            <a:r>
              <a:t>The investor audits the location without being there.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Arcana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CC7E"/>
                </a:solidFill>
                <a:latin typeface="Aptos"/>
              </a:rPr>
              <a:t>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Distributed accounting for the establishment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Sensors and controllers in store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Public proof of daily 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61104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Token backed 1:1 by USDC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556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F1EA"/>
                </a:solidFill>
                <a:latin typeface="Aptos"/>
              </a:rPr>
              <a:t>IS NOT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 speculative cryptocurrency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 POS replacement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 payroll system in this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61104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 full food-safety guarantee by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Express dictionary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One minute of vocabulary to follow the business.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920240"/>
          <a:ext cx="53949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10540"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ptos"/>
                        </a:rPr>
                        <a:t>Term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ptos"/>
                        </a:rPr>
                        <a:t>Plain meaning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Blockchain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Public ledger that is hard to erase quietly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Polygon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Low-cost network where we seal the day and move money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USDC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Digital dollar, ≈ 1 USD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Token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Store unit backed 1:1 by USDC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ESP32 / IoT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Mini-computer that observes and signs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a blockchain?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ledger notebook copied by many people at the same time.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 Excel, someone can delete a row quietly.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On a blockchain, the same book exists in many places.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Faking a row would require changing many copies at once.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Each new page links to the previous one.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not a bank or Bitcoin: it is a ledger that is hard to tamper with.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Polygon?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network where Arcana seals the close and settles money.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Ethereum is known, but writing there can be expensive.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 is compatible, faster, and cheaper.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Think of a parallel road: same vehicle, lower toll.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Arcana does not cook on Polygon: it cooks in the store.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 acts as the notary of the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A daily seal costs cents, not a restaurant commission.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USDC?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dollar that moves through the internet.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1 USDC is designed to equal 1 U.S. dollar.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issued by Circle; it is not meant for speculation.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used to deposit, back, and redeem value.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not Arcana’s token: it backs Arcana’s token.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Analogy: digital dollars in a visible vault.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a token? And ERC-20?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digital unit with rules. Not a memecoin.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Arcana’s token is the store’s settlement unit.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1 token = 1 gross USDC.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not designed for free exchange trading.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pays daily machine debt and distributes proceeds.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ERC-20 is the standard format: like saying “PDF for money”.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a smart contract?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program that executes money rules without manual exceptions.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lives on Polygon and its rules are visible.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prevents issuing more units than deposited dollars.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distributes proceeds according to agreed percentages.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reduces diversion to unauthorized accounts if audited properly.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Analogy: a vending machine for rules.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IoT? And an ESP32?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IoT = devices that talk. ESP32 = the mini-computer on each machine.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fits in the palm of a hand and is low-cost.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can be placed in a fridge, oven, dispenser, or cashier station.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reads weight, temperature, energy, and activity.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signs what it saw; it does not “opine”.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Multiple ESP32 devices check one another.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Signature, key, and distributed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Each device has a pen that cannot be borrowed.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Private key: the device’s secret.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Signature: the device’s seal over an event.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Another node can verify the seal without knowing the pen.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Old or cloned messages can be rejected.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One lying witness is not enough: others must agree.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Merkle: the envelope seal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day has thousands of events. We do not publish them one by one.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 single fingerprint is calculated for the day: the Merkle root.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That fingerprint is written to Polygon.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If one sale changes, the fingerprint no longer matches.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 Merkle proof shows that an event was inside the sealed day.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like sealing a thick envelope with wax.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gas?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toll paid to write on Polygon.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Each public write pays a small fee.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We do not publish every sale or fridge opening.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store operates toll-free during the day.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At close, it pays one toll for the seal.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Treasury movements happen afterward when needed.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is a laboratory attack?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Not employee fraud. It means opening the chip in a lab.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attacker has time, the device, and specialized tools.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goal is to extract secrets from the silicon.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Arcana does cover everyday operational fraud.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This phase does not promise to defeat advanced physical chip extraction.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Saying this builds credibility: “impossible to hack” is banned.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Three plain-language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system is designed to fail in a controlled way.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Fail-secure: when in doubt, it does not count as valid.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Quorum: several devices must agree.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Override: manual mode with a cap and a record.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If internet fails, the store can operate with traceability.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Fridges never shut down: food is not used as leverage.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Initial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First: fast food and franchises. Later: hospitality, tourism, and other inventory-plus-cash locations.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Fridges and cold chain: measured, never shut down.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Ovens, stoves, dispensers, and ice-cream machines.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Cash register and POS.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Inventory by weight.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Real service activity.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For whom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CC7E"/>
                </a:solidFill>
                <a:latin typeface="Aptos"/>
              </a:rPr>
              <a:t>Store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Proves real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Reduces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Reduces disputes with partners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556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F1EA"/>
                </a:solidFill>
                <a:latin typeface="Aptos"/>
              </a:rPr>
              <a:t>Investor /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Audits sales, purchases, and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Sets thresholds in contracts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Compares all locations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The buyer may be the franchise; the core beneficiary is investor trust.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How it works: simple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Operations are local and low-cost. Audit is global and low-cost.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Orders, inventory, kitchen, and POS create events.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Sensors + ESP32 per device sign what they see.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local network validates that no single device rules alone.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Daily close produces a Merkle fingerprint.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 receives the proof and executes USDC treasury.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store fingerprint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One fact is not enough. It must match the rest of the store.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If 10 portions leave the fridge, cooking activity should match.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There should also be sales or justified waste.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If a supplier delivers 240 g instead of 250 g, weight exposes it.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Lying through one machine is not enough.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Fraud would need coordination across almost the whole store.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Security principle in business language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Zero blind trust: neither POS, server, nor one device rules alone.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Fail-secure: without valid agreement, critical activity is not “valid”.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Limited override: recorded and counted against an agreed threshold.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Daily override patterns trigger alerts.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Internet or Polygon can fail: degraded mode remains auditable.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Fridges never get blocked.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daily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Each day has permission, evidence, close, and settlement.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store opens with valid credit and permission.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Each job creates debt: energy, cycles, and portions.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network validates evidence and prevents double charging.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Active nodes sign the daily summary.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It is published on Polygon, debt is paid, and the next day is enabled.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Operating without settling is not free: it accumulates and becomes visible.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money: 1:1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Three parts: USDC treasury, store token, and machine debt.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USDC = real backing.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ERC-20 token = store unit, 1 token = 1 gross USDC.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Machine debt = what each machine owes for working.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Golden rule: no redeemable token exceeds reserved USDC.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token is not speculation; it is a settlement unit.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Where return comes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When a machine pays its debt, tokens are distributed.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05740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Moment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Fee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Profit distribution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Small % on gross batch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Transfer between users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0, only Polygon gas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Exit to USDC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F4F1EA"/>
                          </a:solidFill>
                          <a:latin typeface="Aptos"/>
                        </a:rPr>
                        <a:t>Small exit %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21208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100">
                <a:solidFill>
                  <a:srgbClr val="F4F1EA"/>
                </a:solidFill>
              </a:defRPr>
            </a:pPr>
            <a:r>
              <a:t>Investors / owners.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00">
                <a:solidFill>
                  <a:srgbClr val="F4F1EA"/>
                </a:solidFill>
              </a:defRPr>
            </a:pPr>
            <a:r>
              <a:t>Store operator.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00">
                <a:solidFill>
                  <a:srgbClr val="F4F1EA"/>
                </a:solidFill>
              </a:defRPr>
            </a:pPr>
            <a:r>
              <a:t>Energy and resources.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00">
                <a:solidFill>
                  <a:srgbClr val="F4F1EA"/>
                </a:solidFill>
              </a:defRPr>
            </a:pPr>
            <a:r>
              <a:t>Maintenance.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100">
                <a:solidFill>
                  <a:srgbClr val="F4F1EA"/>
                </a:solidFill>
              </a:defRPr>
            </a:pPr>
            <a:r>
              <a:t>Replacement and expansion.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Why an investor can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investor does not have to believe the owner’s dashboard.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Daily close anchored on Polygon.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Merkle proof of sale, waste, or receipt.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Debt and override thresholds written in the store contract.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Alerts when manual operation is too frequent.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Visible USDC reserve vs. circulating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Arcana guarantees correlated trace and auditable close.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What it protects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Arcana protects operational, financial, and reputational assets.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Integrity of what is sold and bought.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Investor capital and inventory.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Signed evidence: weight, temperature, energy, POS, and supporting video.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Device keys, debt, and debt capacity.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Funds / USDC, cold chain, and store reputation.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Architecture: one technical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 distributed system with blockchain anchoring, not public blockchain inside the microcontroller.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Edge: ESP32 + sensors + machine identity.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Local network: authenticated gossip, quorum, and permissions.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Persistence: recent blocks in Flash; full history outside the chip.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Backend: stores history; does not invent the close.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Polygon: registry, debt, treasury, settlement, and restricted ERC-20.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ch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Why not put everything on public blockchain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Publishing every event to Polygon would be slow, expensive, and fragile.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kitchen must decide in milliseconds.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Internet may fail during the day.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database stores operational detail.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 stores one fingerprint for the entire day.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If one byte changes in history, it no longer matches the anchor.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Advantage and defensibility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Not another IoT dashboard. It connects physical evidence, signatures, close, and payment.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Identity per device.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Local consensus, not server authority.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Multi-sensor correlation.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On-chain settlement with solvency invariant.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Stolen machine: without authorized network and lease, it cannot operate validly.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Fraud stops being an Excel edit; it becomes a coordinated attack on the whole store.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Who pays and why the market can demand it.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Franchise or owner: hardware + installation + store subscription.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Network: distribution fee and exit fee.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More locations = more nodes, closes, and settlements.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contract is cloned per site.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investor demands Arcana as a condition for funding.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Project status: honest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Today: architecture and product model are defined. It is not in production.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CC7E"/>
                </a:solidFill>
                <a:latin typeface="Aptos"/>
              </a:rPr>
              <a:t>As an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Solid design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Clear technical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Scoped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920240"/>
            <a:ext cx="2578608" cy="3401568"/>
          </a:xfrm>
          <a:prstGeom prst="roundRect">
            <a:avLst/>
          </a:prstGeom>
          <a:solidFill>
            <a:srgbClr val="101C30"/>
          </a:solidFill>
          <a:ln>
            <a:solidFill>
              <a:srgbClr val="5560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0752" y="2103120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F1EA"/>
                </a:solidFill>
                <a:latin typeface="Aptos"/>
              </a:rPr>
              <a:t>As a ready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Prototype 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200400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Pilot pending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30752"/>
            <a:ext cx="21214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0" i="0">
                <a:solidFill>
                  <a:srgbClr val="F4F1EA"/>
                </a:solidFill>
                <a:latin typeface="Aptos"/>
              </a:rPr>
              <a:t>• Audits 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A system that moves food and money is not launched just because the whitepaper looks good.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This stage funds the MVP and first pilot, not an immediate global network.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MVP: 3–5 devices, one machine, and one sensor.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Simulated debt, signed close, and Merkle on testnet, no real USDC.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Must demonstrate power loss, fake messages, and blocking without quorum.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Pilot: one store, low limits, fridges only measured.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Production: audits, segregated treasury, and real USDC with caps.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Use of funds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Suggested allocation to adjust to the actual round.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920240"/>
          <a:ext cx="53949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10540"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ptos"/>
                        </a:rPr>
                        <a:t>Use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50800" marR="50800" marT="38100" marB="38100">
                    <a:solidFill>
                      <a:srgbClr val="24304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Hardware and firmware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ESP32, persistence, identity, fail-secure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Network protocol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Gossip, quorum, and recovery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Contracts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Treasury, debt, close, and tests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Backend and audit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History, Merkle, and investor panel</a:t>
                      </a:r>
                    </a:p>
                  </a:txBody>
                  <a:tcPr marL="50800" marR="50800" marT="38100" marB="38100">
                    <a:solidFill>
                      <a:srgbClr val="132138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Pilot / legal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F4F1EA"/>
                          </a:solidFill>
                          <a:latin typeface="Aptos"/>
                        </a:rPr>
                        <a:t>Real site, compliance, KYC/AML</a:t>
                      </a:r>
                    </a:p>
                  </a:txBody>
                  <a:tcPr marL="50800" marR="50800" marT="38100" marB="38100">
                    <a:solidFill>
                      <a:srgbClr val="10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Risks named from day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Showing risks does not weaken the pitch. It makes it serious.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One fallen device must not veto the store forever.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One lying sensor must not charge alone.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The manager must not silently “fix” the day.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Internet or Polygon can fail: degraded mode must remain auditable.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1 token = 1 USDC is a redemption promise, not magic.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96128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Mitigation: scoped pilot, thresholds, untouchable fridges, and audits.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guarantee phrase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moral contract with the investor.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1920240"/>
            <a:ext cx="5349240" cy="1508760"/>
          </a:xfrm>
          <a:prstGeom prst="roundRect">
            <a:avLst/>
          </a:prstGeom>
          <a:solidFill>
            <a:srgbClr val="142138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486460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1">
                <a:solidFill>
                  <a:srgbClr val="FFFFFF"/>
                </a:solidFill>
                <a:latin typeface="Aptos"/>
              </a:rPr>
              <a:t>Arcana guarantees that relevant store operations leave a correlated, signed trace across establishment devices, and that a Polygon anchor makes the close auditable for owners and investors.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5166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F4F1EA"/>
                </a:solidFill>
              </a:defRPr>
            </a:pPr>
            <a:r>
              <a:t>It does not guarantee resistance to chip laboratory attacks.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F4F1EA"/>
                </a:solidFill>
              </a:defRPr>
            </a:pPr>
            <a:r>
              <a:t>It does not guarantee food safety by itself.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300">
                <a:solidFill>
                  <a:srgbClr val="F4F1EA"/>
                </a:solidFill>
              </a:defRPr>
            </a:pPr>
            <a:r>
              <a:t>It does not prevent every override: it makes it visible and bounded.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8076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Why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The kitchen already produces data. Nobody was turning it into trust.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5349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Franchises and remote investors need proof, not promises.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IoT hardware is now low-cost.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Polygon can anchor a full day for cents.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USDC enables settlement without turning the store into a crypto casino.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Today’s POS does not sign the fridge, oven, or supplier weight.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3504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The closing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Today, if you invest in a store you do not visit, what are you trusting?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5349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 person.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 report.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 system that can be edited.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600">
                <a:solidFill>
                  <a:srgbClr val="F4F1EA"/>
                </a:solidFill>
              </a:defRPr>
            </a:pPr>
            <a:r>
              <a:t>Arcana proposes a fourth anchor: what machines saw, signed, and cannot deny alone.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502920"/>
            <a:ext cx="6035040" cy="5806440"/>
          </a:xfrm>
          <a:prstGeom prst="roundRect">
            <a:avLst/>
          </a:prstGeom>
          <a:solidFill>
            <a:srgbClr val="070D19"/>
          </a:solidFill>
          <a:ln>
            <a:solidFill>
              <a:srgbClr val="3F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5440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Closing /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234440"/>
            <a:ext cx="114300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4CCD8"/>
                </a:solidFill>
                <a:latin typeface="Aptos"/>
              </a:rPr>
              <a:t>Arcana: accounting that cannot be lied about.</a:t>
            </a:r>
          </a:p>
        </p:txBody>
      </p:sp>
      <p:sp>
        <p:nvSpPr>
          <p:cNvPr id="8" name="Oval 7"/>
          <p:cNvSpPr/>
          <p:nvPr/>
        </p:nvSpPr>
        <p:spPr>
          <a:xfrm>
            <a:off x="11045952" y="301752"/>
            <a:ext cx="320040" cy="320040"/>
          </a:xfrm>
          <a:prstGeom prst="ellipse">
            <a:avLst/>
          </a:prstGeom>
          <a:solidFill>
            <a:srgbClr val="101B30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ECC7E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8288" y="347472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4CCD8"/>
                </a:solidFill>
                <a:latin typeface="Aptos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6455664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C4CCD8"/>
                </a:solidFill>
                <a:latin typeface="Aptos"/>
              </a:rPr>
              <a:t>Arcana · Investor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5349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We are raising capital to build the MVP on real hardware.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Close the protocol for one store.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Run the first pilot in a food franchise.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Reach audits before custodying real funds.</a:t>
            </a:r>
          </a:p>
          <a:p>
            <a:pPr>
              <a:lnSpc>
                <a:spcPct val="108000"/>
              </a:lnSpc>
              <a:spcAft>
                <a:spcPts val="700"/>
              </a:spcAft>
              <a:defRPr sz="1400">
                <a:solidFill>
                  <a:srgbClr val="F4F1EA"/>
                </a:solidFill>
              </a:defRPr>
            </a:pPr>
            <a:r>
              <a:t>Next step: simulated demo of sale → evidence → close → payment → unlock.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23560"/>
            <a:ext cx="5394960" cy="502920"/>
          </a:xfrm>
          <a:prstGeom prst="roundRect">
            <a:avLst/>
          </a:prstGeom>
          <a:solidFill>
            <a:srgbClr val="232324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74243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EECC7E"/>
                </a:solidFill>
                <a:latin typeface="Aptos"/>
              </a:rPr>
              <a:t>Next step: simulated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